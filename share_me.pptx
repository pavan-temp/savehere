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898CE8-7A4F-4617-A5FF-825DA17D19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AB7D02-A4A1-484F-86BE-3F121FBC4F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8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"/>
          <p:cNvSpPr/>
          <p:nvPr/>
        </p:nvSpPr>
        <p:spPr>
          <a:xfrm>
            <a:off x="9784080" y="594360"/>
            <a:ext cx="1142640" cy="1142640"/>
          </a:xfrm>
          <a:prstGeom prst="ellipse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" name="Oval 2"/>
          <p:cNvSpPr/>
          <p:nvPr/>
        </p:nvSpPr>
        <p:spPr>
          <a:xfrm>
            <a:off x="10652760" y="1417320"/>
            <a:ext cx="566640" cy="566640"/>
          </a:xfrm>
          <a:prstGeom prst="ellipse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" name="Oval 3"/>
          <p:cNvSpPr/>
          <p:nvPr/>
        </p:nvSpPr>
        <p:spPr>
          <a:xfrm>
            <a:off x="9281160" y="1874520"/>
            <a:ext cx="438480" cy="438480"/>
          </a:xfrm>
          <a:prstGeom prst="ellipse">
            <a:avLst/>
          </a:prstGeom>
          <a:solidFill>
            <a:srgbClr val="ddf2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" name="Oval 4"/>
          <p:cNvSpPr/>
          <p:nvPr/>
        </p:nvSpPr>
        <p:spPr>
          <a:xfrm>
            <a:off x="10195560" y="2423160"/>
            <a:ext cx="776880" cy="776880"/>
          </a:xfrm>
          <a:prstGeom prst="ellipse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749880" y="749880"/>
            <a:ext cx="2834280" cy="383760"/>
          </a:xfrm>
          <a:prstGeom prst="roundRect">
            <a:avLst>
              <a:gd name="adj" fmla="val 16667"/>
            </a:avLst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" name="TextBox 6"/>
          <p:cNvSpPr/>
          <p:nvPr/>
        </p:nvSpPr>
        <p:spPr>
          <a:xfrm>
            <a:off x="795600" y="786240"/>
            <a:ext cx="2742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ptos"/>
              </a:rPr>
              <a:t>COMMUNITY SERVICE PROJECT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Box 7"/>
          <p:cNvSpPr/>
          <p:nvPr/>
        </p:nvSpPr>
        <p:spPr>
          <a:xfrm>
            <a:off x="749880" y="1417320"/>
            <a:ext cx="7954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1" lang="en-US" sz="3600" strike="noStrike" u="none">
                <a:solidFill>
                  <a:srgbClr val="ffffff"/>
                </a:solidFill>
                <a:uFillTx/>
                <a:latin typeface="Aptos"/>
              </a:rPr>
              <a:t>AWARENESS ON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1" lang="en-US" sz="3600" strike="noStrike" u="none">
                <a:solidFill>
                  <a:srgbClr val="ffffff"/>
                </a:solidFill>
                <a:uFillTx/>
                <a:latin typeface="Aptos"/>
              </a:rPr>
              <a:t>SOLID WASTE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Aptos"/>
              </a:rPr>
              <a:t>MANAGEMENT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Box 8"/>
          <p:cNvSpPr/>
          <p:nvPr/>
        </p:nvSpPr>
        <p:spPr>
          <a:xfrm>
            <a:off x="786240" y="3886200"/>
            <a:ext cx="76806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900" strike="noStrike" u="none">
                <a:solidFill>
                  <a:srgbClr val="ddf2eb"/>
                </a:solidFill>
                <a:uFillTx/>
                <a:latin typeface="Aptos"/>
              </a:rPr>
              <a:t>Field study and awareness about proper waste segregation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ddf2eb"/>
                </a:solidFill>
                <a:uFillTx/>
                <a:latin typeface="Aptos"/>
              </a:rPr>
              <a:t>in Kaikaluru village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786240" y="4800600"/>
            <a:ext cx="914040" cy="5436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" name="TextBox 10"/>
          <p:cNvSpPr/>
          <p:nvPr/>
        </p:nvSpPr>
        <p:spPr>
          <a:xfrm>
            <a:off x="786240" y="5047560"/>
            <a:ext cx="53946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300" strike="noStrike" u="none">
                <a:solidFill>
                  <a:srgbClr val="ffffff"/>
                </a:solidFill>
                <a:uFillTx/>
                <a:latin typeface="Aptos"/>
              </a:rPr>
              <a:t>V. Uma Sri  |  24481A0156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ffffff"/>
                </a:solidFill>
                <a:uFillTx/>
                <a:latin typeface="Aptos"/>
              </a:rPr>
              <a:t>G. Chakri Sai  |  24481A0115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ffffff"/>
                </a:solidFill>
                <a:uFillTx/>
                <a:latin typeface="Aptos"/>
              </a:rPr>
              <a:t>K. Krishna Kowshik  |  24481A0122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Box 11"/>
          <p:cNvSpPr/>
          <p:nvPr/>
        </p:nvSpPr>
        <p:spPr>
          <a:xfrm>
            <a:off x="6492240" y="4983480"/>
            <a:ext cx="484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200" strike="noStrike" u="none">
                <a:solidFill>
                  <a:srgbClr val="ddf2eb"/>
                </a:solidFill>
                <a:uFillTx/>
                <a:latin typeface="Aptos"/>
              </a:rPr>
              <a:t>Department of Civil Engineering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ddf2eb"/>
                </a:solidFill>
                <a:uFillTx/>
                <a:latin typeface="Aptos"/>
              </a:rPr>
              <a:t>Seshadri Rao Gudlavalleru Engineering College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none">
                <a:solidFill>
                  <a:srgbClr val="ddf2eb"/>
                </a:solidFill>
                <a:uFillTx/>
                <a:latin typeface="Aptos"/>
              </a:rPr>
              <a:t>Guided by: Mrs. U. Pallavi, Assistant Professor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TextBox 12"/>
          <p:cNvSpPr/>
          <p:nvPr/>
        </p:nvSpPr>
        <p:spPr>
          <a:xfrm>
            <a:off x="786240" y="627264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e8b143"/>
                </a:solidFill>
                <a:uFillTx/>
                <a:latin typeface="Aptos"/>
              </a:rPr>
              <a:t>2026–2027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Introduction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Why solid waste management matters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713160" y="1536120"/>
            <a:ext cx="106066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300" strike="noStrike" u="none">
                <a:solidFill>
                  <a:srgbClr val="143041"/>
                </a:solidFill>
                <a:uFillTx/>
                <a:latin typeface="Aptos"/>
              </a:rPr>
              <a:t>Solid waste is produced every day by households, shops and public places.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6"/>
          <p:cNvSpPr/>
          <p:nvPr/>
        </p:nvSpPr>
        <p:spPr>
          <a:xfrm>
            <a:off x="713160" y="242316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713160" y="2423160"/>
            <a:ext cx="82080" cy="228564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" name="TextBox 8"/>
          <p:cNvSpPr/>
          <p:nvPr/>
        </p:nvSpPr>
        <p:spPr>
          <a:xfrm>
            <a:off x="914400" y="258768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What is solid waste?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Box 9"/>
          <p:cNvSpPr/>
          <p:nvPr/>
        </p:nvSpPr>
        <p:spPr>
          <a:xfrm>
            <a:off x="914400" y="3026520"/>
            <a:ext cx="3090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2d3a40"/>
                </a:solidFill>
                <a:uFillTx/>
                <a:latin typeface="Aptos"/>
              </a:rPr>
              <a:t>Discarded materials such as food scraps, paper, plastic, glass and metal.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Rounded Rectangle 10"/>
          <p:cNvSpPr/>
          <p:nvPr/>
        </p:nvSpPr>
        <p:spPr>
          <a:xfrm>
            <a:off x="4370760" y="242316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7" name="Rectangle 11"/>
          <p:cNvSpPr/>
          <p:nvPr/>
        </p:nvSpPr>
        <p:spPr>
          <a:xfrm>
            <a:off x="4370760" y="2423160"/>
            <a:ext cx="82080" cy="228564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8" name="TextBox 12"/>
          <p:cNvSpPr/>
          <p:nvPr/>
        </p:nvSpPr>
        <p:spPr>
          <a:xfrm>
            <a:off x="4572000" y="258768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What is the concern?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Box 13"/>
          <p:cNvSpPr/>
          <p:nvPr/>
        </p:nvSpPr>
        <p:spPr>
          <a:xfrm>
            <a:off x="4572000" y="3026520"/>
            <a:ext cx="3090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2d3a40"/>
                </a:solidFill>
                <a:uFillTx/>
                <a:latin typeface="Aptos"/>
              </a:rPr>
              <a:t>Mixing or disposing of waste improperly can cause pollution, bad odour and blocked drains.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Rounded Rectangle 14"/>
          <p:cNvSpPr/>
          <p:nvPr/>
        </p:nvSpPr>
        <p:spPr>
          <a:xfrm>
            <a:off x="8028360" y="242316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" name="Rectangle 15"/>
          <p:cNvSpPr/>
          <p:nvPr/>
        </p:nvSpPr>
        <p:spPr>
          <a:xfrm>
            <a:off x="8028360" y="2423160"/>
            <a:ext cx="82080" cy="228564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" name="TextBox 16"/>
          <p:cNvSpPr/>
          <p:nvPr/>
        </p:nvSpPr>
        <p:spPr>
          <a:xfrm>
            <a:off x="8229600" y="258768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What can help?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Box 17"/>
          <p:cNvSpPr/>
          <p:nvPr/>
        </p:nvSpPr>
        <p:spPr>
          <a:xfrm>
            <a:off x="8229600" y="3026520"/>
            <a:ext cx="3090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2d3a40"/>
                </a:solidFill>
                <a:uFillTx/>
                <a:latin typeface="Aptos"/>
              </a:rPr>
              <a:t>Segregation at the source, suitable collection, recycling and safe disposal.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Box 18"/>
          <p:cNvSpPr/>
          <p:nvPr/>
        </p:nvSpPr>
        <p:spPr>
          <a:xfrm>
            <a:off x="822960" y="5212080"/>
            <a:ext cx="10606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58078"/>
                </a:solidFill>
                <a:uFillTx/>
                <a:latin typeface="Aptos"/>
              </a:rPr>
              <a:t>Project focus: understanding local practices and encouraging correct use of the existing two-bin system.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Box 19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Box 20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8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Aim &amp; Objectives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The purpose of our community service project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Rounded Rectangle 5"/>
          <p:cNvSpPr/>
          <p:nvPr/>
        </p:nvSpPr>
        <p:spPr>
          <a:xfrm>
            <a:off x="731520" y="1554480"/>
            <a:ext cx="10743840" cy="1096920"/>
          </a:xfrm>
          <a:prstGeom prst="roundRect">
            <a:avLst>
              <a:gd name="adj" fmla="val 16667"/>
            </a:avLst>
          </a:prstGeom>
          <a:solidFill>
            <a:srgbClr val="1430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" name="TextBox 6"/>
          <p:cNvSpPr/>
          <p:nvPr/>
        </p:nvSpPr>
        <p:spPr>
          <a:xfrm>
            <a:off x="987480" y="1746360"/>
            <a:ext cx="137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e8b143"/>
                </a:solidFill>
                <a:uFillTx/>
                <a:latin typeface="Aptos"/>
              </a:rPr>
              <a:t>MAIN AIM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Box 7"/>
          <p:cNvSpPr/>
          <p:nvPr/>
        </p:nvSpPr>
        <p:spPr>
          <a:xfrm>
            <a:off x="2331720" y="1719000"/>
            <a:ext cx="86864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Aptos"/>
              </a:rPr>
              <a:t>To understand existing waste-management practices and create awareness about proper waste segregation.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8"/>
          <p:cNvSpPr/>
          <p:nvPr/>
        </p:nvSpPr>
        <p:spPr>
          <a:xfrm>
            <a:off x="914400" y="3063240"/>
            <a:ext cx="10058040" cy="20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•  </a:t>
            </a: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Study waste collection, storage and disposal practices in Kaikaluru.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•  </a:t>
            </a: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Identify common types of solid waste and segregation problems.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•  </a:t>
            </a: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Explain separation of biodegradable and non-biodegradable waste.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•  </a:t>
            </a: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Encourage proper use of the existing two-bin system.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•  </a:t>
            </a: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Understand how community participation supports a cleaner environment.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Box 9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Box 10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Study Area &amp; Approach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Based on the project report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Rounded Rectangle 5"/>
          <p:cNvSpPr/>
          <p:nvPr/>
        </p:nvSpPr>
        <p:spPr>
          <a:xfrm>
            <a:off x="731520" y="1600200"/>
            <a:ext cx="338292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" name="Rectangle 6"/>
          <p:cNvSpPr/>
          <p:nvPr/>
        </p:nvSpPr>
        <p:spPr>
          <a:xfrm>
            <a:off x="731520" y="1600200"/>
            <a:ext cx="82080" cy="342864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932760" y="1764720"/>
            <a:ext cx="299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Study area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932760" y="2203560"/>
            <a:ext cx="299880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Kaikaluru village,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Eluru District, Andhra Pradesh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Focus: selected residential, shop and public areas.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Rounded Rectangle 9"/>
          <p:cNvSpPr/>
          <p:nvPr/>
        </p:nvSpPr>
        <p:spPr>
          <a:xfrm>
            <a:off x="4389120" y="1600200"/>
            <a:ext cx="338292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6" name="Rectangle 10"/>
          <p:cNvSpPr/>
          <p:nvPr/>
        </p:nvSpPr>
        <p:spPr>
          <a:xfrm>
            <a:off x="4389120" y="1600200"/>
            <a:ext cx="82080" cy="342864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4590360" y="1764720"/>
            <a:ext cx="299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How we studied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4590360" y="2203560"/>
            <a:ext cx="29988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Field visits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Direct observations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Interactions with residents and shop owners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Review of waste handling practices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Rounded Rectangle 13"/>
          <p:cNvSpPr/>
          <p:nvPr/>
        </p:nvSpPr>
        <p:spPr>
          <a:xfrm>
            <a:off x="8046720" y="1600200"/>
            <a:ext cx="338292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0" name="Rectangle 14"/>
          <p:cNvSpPr/>
          <p:nvPr/>
        </p:nvSpPr>
        <p:spPr>
          <a:xfrm>
            <a:off x="8046720" y="1600200"/>
            <a:ext cx="82080" cy="342864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8247960" y="1764720"/>
            <a:ext cx="299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What we examined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8247960" y="2203560"/>
            <a:ext cx="29988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Types of waste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Segregation practices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Storage and collection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Disposal methods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Use of the two-bin system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Box 17"/>
          <p:cNvSpPr/>
          <p:nvPr/>
        </p:nvSpPr>
        <p:spPr>
          <a:xfrm>
            <a:off x="914400" y="5486400"/>
            <a:ext cx="10332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66757a"/>
                </a:solidFill>
                <a:uFillTx/>
                <a:latin typeface="Aptos"/>
              </a:rPr>
              <a:t>The project focused on understanding existing practices—not on claiming measured improvements.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Box 18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Box 19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Types of Solid Waste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Common examples identified in the report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731520" y="1600200"/>
            <a:ext cx="521172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731520" y="1600200"/>
            <a:ext cx="82080" cy="338292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932760" y="1764720"/>
            <a:ext cx="482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Biodegradable / wet waste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932760" y="2203560"/>
            <a:ext cx="482760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Examples: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Food scraps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Fruit and vegetable waste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Leaves and garden waste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Possible treatment: composting or other suitable biological treatment.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Rounded Rectangle 9"/>
          <p:cNvSpPr/>
          <p:nvPr/>
        </p:nvSpPr>
        <p:spPr>
          <a:xfrm>
            <a:off x="6217920" y="1600200"/>
            <a:ext cx="521172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5" name="Rectangle 10"/>
          <p:cNvSpPr/>
          <p:nvPr/>
        </p:nvSpPr>
        <p:spPr>
          <a:xfrm>
            <a:off x="6217920" y="1600200"/>
            <a:ext cx="82080" cy="338292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6419160" y="1764720"/>
            <a:ext cx="482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Non-biodegradable / dry waste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6419160" y="2203560"/>
            <a:ext cx="482760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Examples: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Plastic and bottles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Paper and cardboard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Glass and metal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Suitable recyclable materials can be separated for recovery and recycling.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Rounded Rectangle 13"/>
          <p:cNvSpPr/>
          <p:nvPr/>
        </p:nvSpPr>
        <p:spPr>
          <a:xfrm>
            <a:off x="3657600" y="5394960"/>
            <a:ext cx="4845960" cy="383760"/>
          </a:xfrm>
          <a:prstGeom prst="roundRect">
            <a:avLst>
              <a:gd name="adj" fmla="val 16667"/>
            </a:avLst>
          </a:prstGeom>
          <a:solidFill>
            <a:srgbClr val="1430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3703320" y="5431680"/>
            <a:ext cx="4754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ptos"/>
              </a:rPr>
              <a:t>Separate waste where it is generated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Key Observations &amp; Problems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Issues highlighted by field observations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731520" y="16459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731520" y="1645920"/>
            <a:ext cx="82080" cy="2057040"/>
          </a:xfrm>
          <a:prstGeom prst="rect">
            <a:avLst/>
          </a:prstGeom>
          <a:solidFill>
            <a:srgbClr val="be5a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932760" y="181044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Waste gets mixed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932760" y="2249280"/>
            <a:ext cx="30902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2d3a40"/>
                </a:solidFill>
                <a:uFillTx/>
                <a:latin typeface="Aptos"/>
              </a:rPr>
              <a:t>Mixing wet and dry waste makes further sorting and processing harder.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Rounded Rectangle 9"/>
          <p:cNvSpPr/>
          <p:nvPr/>
        </p:nvSpPr>
        <p:spPr>
          <a:xfrm>
            <a:off x="4370760" y="16459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4370760" y="1645920"/>
            <a:ext cx="82080" cy="205704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2" name="TextBox 11"/>
          <p:cNvSpPr/>
          <p:nvPr/>
        </p:nvSpPr>
        <p:spPr>
          <a:xfrm>
            <a:off x="4572000" y="181044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Collection &amp; storage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4572000" y="2249280"/>
            <a:ext cx="30902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2d3a40"/>
                </a:solidFill>
                <a:uFillTx/>
                <a:latin typeface="Aptos"/>
              </a:rPr>
              <a:t>Poor storage or irregular collection can allow waste to accumulate or scatter.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Rounded Rectangle 13"/>
          <p:cNvSpPr/>
          <p:nvPr/>
        </p:nvSpPr>
        <p:spPr>
          <a:xfrm>
            <a:off x="8010000" y="16459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5" name="Rectangle 14"/>
          <p:cNvSpPr/>
          <p:nvPr/>
        </p:nvSpPr>
        <p:spPr>
          <a:xfrm>
            <a:off x="8010000" y="1645920"/>
            <a:ext cx="82080" cy="205704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6" name="TextBox 15"/>
          <p:cNvSpPr/>
          <p:nvPr/>
        </p:nvSpPr>
        <p:spPr>
          <a:xfrm>
            <a:off x="8211240" y="1810440"/>
            <a:ext cx="309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Environmental effects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8211240" y="2249280"/>
            <a:ext cx="30902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trike="noStrike" u="none">
                <a:solidFill>
                  <a:srgbClr val="2d3a40"/>
                </a:solidFill>
                <a:uFillTx/>
                <a:latin typeface="Aptos"/>
              </a:rPr>
              <a:t>Improper disposal can cause pollution, unpleasant surroundings and blocked drains.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17"/>
          <p:cNvSpPr/>
          <p:nvPr/>
        </p:nvSpPr>
        <p:spPr>
          <a:xfrm>
            <a:off x="868680" y="4160520"/>
            <a:ext cx="38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840" rIns="1584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Main issue addressed by our project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868680" y="4617720"/>
            <a:ext cx="102409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trike="noStrike" u="none">
                <a:solidFill>
                  <a:srgbClr val="158078"/>
                </a:solidFill>
                <a:uFillTx/>
                <a:latin typeface="Aptos"/>
              </a:rPr>
              <a:t>The need for better source segregation and correct use of the existing two-bin system.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20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Field Activities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Summary of the eight-week plan in the report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Oval 5"/>
          <p:cNvSpPr/>
          <p:nvPr/>
        </p:nvSpPr>
        <p:spPr>
          <a:xfrm>
            <a:off x="868680" y="1554480"/>
            <a:ext cx="411120" cy="411120"/>
          </a:xfrm>
          <a:prstGeom prst="ellipse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932760" y="1618560"/>
            <a:ext cx="27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ptos"/>
              </a:rPr>
              <a:t>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1508760" y="1527120"/>
            <a:ext cx="1508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158078"/>
                </a:solidFill>
                <a:uFillTx/>
                <a:latin typeface="Aptos"/>
              </a:rPr>
              <a:t>WEEKS 1–2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3063240" y="1508760"/>
            <a:ext cx="7954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Field visits to observe waste collection and disposal.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Oval 9"/>
          <p:cNvSpPr/>
          <p:nvPr/>
        </p:nvSpPr>
        <p:spPr>
          <a:xfrm>
            <a:off x="868680" y="2423160"/>
            <a:ext cx="411120" cy="411120"/>
          </a:xfrm>
          <a:prstGeom prst="ellipse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932760" y="2487240"/>
            <a:ext cx="27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43041"/>
                </a:solidFill>
                <a:uFillTx/>
                <a:latin typeface="Aptos"/>
              </a:rPr>
              <a:t>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1508760" y="2395800"/>
            <a:ext cx="1508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158078"/>
                </a:solidFill>
                <a:uFillTx/>
                <a:latin typeface="Aptos"/>
              </a:rPr>
              <a:t>WEEKS 3–4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3063240" y="2377440"/>
            <a:ext cx="7954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Identify types of waste and observe segregation problems.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Oval 13"/>
          <p:cNvSpPr/>
          <p:nvPr/>
        </p:nvSpPr>
        <p:spPr>
          <a:xfrm>
            <a:off x="868680" y="3291840"/>
            <a:ext cx="411120" cy="411120"/>
          </a:xfrm>
          <a:prstGeom prst="ellipse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932760" y="3355920"/>
            <a:ext cx="27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ptos"/>
              </a:rPr>
              <a:t>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1508760" y="3264480"/>
            <a:ext cx="1508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158078"/>
                </a:solidFill>
                <a:uFillTx/>
                <a:latin typeface="Aptos"/>
              </a:rPr>
              <a:t>WEEKS 5–6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16"/>
          <p:cNvSpPr/>
          <p:nvPr/>
        </p:nvSpPr>
        <p:spPr>
          <a:xfrm>
            <a:off x="3063240" y="3246120"/>
            <a:ext cx="7954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Create awareness about proper use of the two-bin system.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Oval 17"/>
          <p:cNvSpPr/>
          <p:nvPr/>
        </p:nvSpPr>
        <p:spPr>
          <a:xfrm>
            <a:off x="868680" y="4160520"/>
            <a:ext cx="411120" cy="411120"/>
          </a:xfrm>
          <a:prstGeom prst="ellipse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9" name="TextBox 18"/>
          <p:cNvSpPr/>
          <p:nvPr/>
        </p:nvSpPr>
        <p:spPr>
          <a:xfrm>
            <a:off x="932760" y="4224600"/>
            <a:ext cx="27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143041"/>
                </a:solidFill>
                <a:uFillTx/>
                <a:latin typeface="Aptos"/>
              </a:rPr>
              <a:t>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1508760" y="4133160"/>
            <a:ext cx="1508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158078"/>
                </a:solidFill>
                <a:uFillTx/>
                <a:latin typeface="Aptos"/>
              </a:rPr>
              <a:t>WEEK 7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Box 20"/>
          <p:cNvSpPr/>
          <p:nvPr/>
        </p:nvSpPr>
        <p:spPr>
          <a:xfrm>
            <a:off x="3063240" y="4114800"/>
            <a:ext cx="7954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Observe the existing two-bin system and its practical use.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Oval 21"/>
          <p:cNvSpPr/>
          <p:nvPr/>
        </p:nvSpPr>
        <p:spPr>
          <a:xfrm>
            <a:off x="868680" y="5029200"/>
            <a:ext cx="411120" cy="411120"/>
          </a:xfrm>
          <a:prstGeom prst="ellipse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3" name="TextBox 22"/>
          <p:cNvSpPr/>
          <p:nvPr/>
        </p:nvSpPr>
        <p:spPr>
          <a:xfrm>
            <a:off x="932760" y="5093280"/>
            <a:ext cx="273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ptos"/>
              </a:rPr>
              <a:t>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1508760" y="5001840"/>
            <a:ext cx="1508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trike="noStrike" u="none">
                <a:solidFill>
                  <a:srgbClr val="158078"/>
                </a:solidFill>
                <a:uFillTx/>
                <a:latin typeface="Aptos"/>
              </a:rPr>
              <a:t>WEEK 8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24"/>
          <p:cNvSpPr/>
          <p:nvPr/>
        </p:nvSpPr>
        <p:spPr>
          <a:xfrm>
            <a:off x="3063240" y="4983480"/>
            <a:ext cx="7954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700" strike="noStrike" u="none">
                <a:solidFill>
                  <a:srgbClr val="2d3a40"/>
                </a:solidFill>
                <a:uFillTx/>
                <a:latin typeface="Aptos"/>
              </a:rPr>
              <a:t>Review activities and document observations and outcomes.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25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26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The Two-Bin System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A simple way to improve segregation at source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Rounded Rectangle 5"/>
          <p:cNvSpPr/>
          <p:nvPr/>
        </p:nvSpPr>
        <p:spPr>
          <a:xfrm>
            <a:off x="1737360" y="187452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3" name="Rectangle 6"/>
          <p:cNvSpPr/>
          <p:nvPr/>
        </p:nvSpPr>
        <p:spPr>
          <a:xfrm>
            <a:off x="1508760" y="1673280"/>
            <a:ext cx="3931560" cy="255600"/>
          </a:xfrm>
          <a:prstGeom prst="rect">
            <a:avLst/>
          </a:prstGeom>
          <a:solidFill>
            <a:srgbClr val="1430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1280160" y="4434840"/>
            <a:ext cx="438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143041"/>
                </a:solidFill>
                <a:uFillTx/>
                <a:latin typeface="Aptos"/>
              </a:rPr>
              <a:t>BIN 1: WET / BIODEGRADABLE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1234440" y="491940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2d3a40"/>
                </a:solidFill>
                <a:uFillTx/>
                <a:latin typeface="Aptos"/>
              </a:rPr>
              <a:t>Food scraps • Vegetable waste • Leaves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1234440" y="548640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158078"/>
                </a:solidFill>
                <a:uFillTx/>
                <a:latin typeface="Aptos"/>
              </a:rPr>
              <a:t>Keep organic waste separate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Rounded Rectangle 10"/>
          <p:cNvSpPr/>
          <p:nvPr/>
        </p:nvSpPr>
        <p:spPr>
          <a:xfrm>
            <a:off x="7086600" y="187452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8" name="Rectangle 11"/>
          <p:cNvSpPr/>
          <p:nvPr/>
        </p:nvSpPr>
        <p:spPr>
          <a:xfrm>
            <a:off x="6858000" y="1673280"/>
            <a:ext cx="3931560" cy="255600"/>
          </a:xfrm>
          <a:prstGeom prst="rect">
            <a:avLst/>
          </a:prstGeom>
          <a:solidFill>
            <a:srgbClr val="1430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6629400" y="4434840"/>
            <a:ext cx="438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143041"/>
                </a:solidFill>
                <a:uFillTx/>
                <a:latin typeface="Aptos"/>
              </a:rPr>
              <a:t>BIN 2: DRY / NON-BIODEGRADABLE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13"/>
          <p:cNvSpPr/>
          <p:nvPr/>
        </p:nvSpPr>
        <p:spPr>
          <a:xfrm>
            <a:off x="6583680" y="491940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trike="noStrike" u="none">
                <a:solidFill>
                  <a:srgbClr val="2d3a40"/>
                </a:solidFill>
                <a:uFillTx/>
                <a:latin typeface="Aptos"/>
              </a:rPr>
              <a:t>Plastic • Paper • Bottles • Glass • Metal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14"/>
          <p:cNvSpPr/>
          <p:nvPr/>
        </p:nvSpPr>
        <p:spPr>
          <a:xfrm>
            <a:off x="6583680" y="5486400"/>
            <a:ext cx="448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a07014"/>
                </a:solidFill>
                <a:uFillTx/>
                <a:latin typeface="Aptos"/>
              </a:rPr>
              <a:t>Keep dry and recyclable items separate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914400" y="6016680"/>
            <a:ext cx="10423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66757a"/>
                </a:solidFill>
                <a:uFillTx/>
                <a:latin typeface="Aptos"/>
              </a:rPr>
              <a:t>Do not mix the two categories. Follow local collection guidance for special waste such as batteries and e-waste.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TextBox 17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Outcomes &amp; Recommendations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What the project helped us understand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Rounded Rectangle 5"/>
          <p:cNvSpPr/>
          <p:nvPr/>
        </p:nvSpPr>
        <p:spPr>
          <a:xfrm>
            <a:off x="731520" y="1600200"/>
            <a:ext cx="521172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0" name="Rectangle 6"/>
          <p:cNvSpPr/>
          <p:nvPr/>
        </p:nvSpPr>
        <p:spPr>
          <a:xfrm>
            <a:off x="731520" y="1600200"/>
            <a:ext cx="82080" cy="352008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932760" y="1764720"/>
            <a:ext cx="482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Project outcomes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932760" y="2203560"/>
            <a:ext cx="48276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Better understanding of local waste practices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Recognition of segregation problems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Awareness of the two-bin system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Practical experience in field observation, communication and teamwork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Rounded Rectangle 9"/>
          <p:cNvSpPr/>
          <p:nvPr/>
        </p:nvSpPr>
        <p:spPr>
          <a:xfrm>
            <a:off x="6217920" y="1600200"/>
            <a:ext cx="521172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ee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4" name="Rectangle 10"/>
          <p:cNvSpPr/>
          <p:nvPr/>
        </p:nvSpPr>
        <p:spPr>
          <a:xfrm>
            <a:off x="6217920" y="1600200"/>
            <a:ext cx="82080" cy="3520080"/>
          </a:xfrm>
          <a:prstGeom prst="rect">
            <a:avLst/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rIns="410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6419160" y="1764720"/>
            <a:ext cx="482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43041"/>
                </a:solidFill>
                <a:uFillTx/>
                <a:latin typeface="Aptos"/>
              </a:rPr>
              <a:t>Recommended practices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6419160" y="2203560"/>
            <a:ext cx="48276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Separate wet and dry waste at home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Keep bins and storage areas clean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Use regular collection services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Reuse items and separate recyclables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Consider composting suitable organic waste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• </a:t>
            </a:r>
            <a:r>
              <a:rPr b="0" lang="en-US" sz="1600" strike="noStrike" u="none">
                <a:solidFill>
                  <a:srgbClr val="2d3a40"/>
                </a:solidFill>
                <a:uFillTx/>
                <a:latin typeface="Aptos"/>
              </a:rPr>
              <a:t>Avoid littering and open dumping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868680" y="5486400"/>
            <a:ext cx="10515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none">
                <a:solidFill>
                  <a:srgbClr val="66757a"/>
                </a:solidFill>
                <a:uFillTx/>
                <a:latin typeface="Aptos"/>
              </a:rPr>
              <a:t>These are qualitative outcomes and recommendations; the report does not provide numerical survey results.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Box 14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Box 15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594360" y="384120"/>
            <a:ext cx="10881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43041"/>
                </a:solidFill>
                <a:uFillTx/>
                <a:latin typeface="Aptos"/>
              </a:rPr>
              <a:t>Conclusion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21720" y="932760"/>
            <a:ext cx="1069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trike="noStrike" u="none">
                <a:solidFill>
                  <a:srgbClr val="66757a"/>
                </a:solidFill>
                <a:uFillTx/>
                <a:latin typeface="Aptos"/>
              </a:rPr>
              <a:t>Key message from the project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9784080" y="438840"/>
            <a:ext cx="1737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09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822960" y="1554480"/>
            <a:ext cx="1051524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900" strike="noStrike" u="none">
                <a:solidFill>
                  <a:srgbClr val="158078"/>
                </a:solidFill>
                <a:uFillTx/>
                <a:latin typeface="Aptos"/>
              </a:rPr>
              <a:t>Proper waste management begins at the source.</a:t>
            </a: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1097280" y="2423160"/>
            <a:ext cx="996660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143041"/>
                </a:solidFill>
                <a:uFillTx/>
                <a:latin typeface="Aptos"/>
              </a:rPr>
              <a:t>Our CSP in Kaikaluru helped us study existing waste-handling practices and identify the importance of separating biodegradable and non-biodegradable waste.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Rounded Rectangle 7"/>
          <p:cNvSpPr/>
          <p:nvPr/>
        </p:nvSpPr>
        <p:spPr>
          <a:xfrm>
            <a:off x="822960" y="406908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896040" y="4279320"/>
            <a:ext cx="1910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SEPARATE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Rounded Rectangle 9"/>
          <p:cNvSpPr/>
          <p:nvPr/>
        </p:nvSpPr>
        <p:spPr>
          <a:xfrm>
            <a:off x="3611880" y="406908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430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3684960" y="4279320"/>
            <a:ext cx="1910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COLLECT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6355080" y="406908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e8b1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6428160" y="4279320"/>
            <a:ext cx="1910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143041"/>
                </a:solidFill>
                <a:uFillTx/>
                <a:latin typeface="Aptos"/>
              </a:rPr>
              <a:t>RECYCLE / TREAT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Rounded Rectangle 13"/>
          <p:cNvSpPr/>
          <p:nvPr/>
        </p:nvSpPr>
        <p:spPr>
          <a:xfrm>
            <a:off x="9144000" y="4069080"/>
            <a:ext cx="2057040" cy="776880"/>
          </a:xfrm>
          <a:prstGeom prst="roundRect">
            <a:avLst>
              <a:gd name="adj" fmla="val 16667"/>
            </a:avLst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9217080" y="4279320"/>
            <a:ext cx="1910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DISPOSE SAFELY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2971800" y="4224600"/>
            <a:ext cx="4111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500" strike="noStrike" u="none">
                <a:solidFill>
                  <a:srgbClr val="66757a"/>
                </a:solidFill>
                <a:uFillTx/>
                <a:latin typeface="Aptos"/>
              </a:rPr>
              <a:t>→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5715000" y="4224600"/>
            <a:ext cx="4111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500" strike="noStrike" u="none">
                <a:solidFill>
                  <a:srgbClr val="66757a"/>
                </a:solidFill>
                <a:uFillTx/>
                <a:latin typeface="Aptos"/>
              </a:rPr>
              <a:t>→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TextBox 17"/>
          <p:cNvSpPr/>
          <p:nvPr/>
        </p:nvSpPr>
        <p:spPr>
          <a:xfrm>
            <a:off x="8503920" y="4224600"/>
            <a:ext cx="41112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500" strike="noStrike" u="none">
                <a:solidFill>
                  <a:srgbClr val="66757a"/>
                </a:solidFill>
                <a:uFillTx/>
                <a:latin typeface="Aptos"/>
              </a:rPr>
              <a:t>→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TextBox 18"/>
          <p:cNvSpPr/>
          <p:nvPr/>
        </p:nvSpPr>
        <p:spPr>
          <a:xfrm>
            <a:off x="1005840" y="5303520"/>
            <a:ext cx="10149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2d3a40"/>
                </a:solidFill>
                <a:uFillTx/>
                <a:latin typeface="Aptos"/>
              </a:rPr>
              <a:t>Community participation and correct use of the two-bin system can support cleaner, healthier surroundings.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Box 19"/>
          <p:cNvSpPr/>
          <p:nvPr/>
        </p:nvSpPr>
        <p:spPr>
          <a:xfrm>
            <a:off x="594360" y="6519600"/>
            <a:ext cx="9600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800" strike="noStrike" u="none">
                <a:solidFill>
                  <a:srgbClr val="66757a"/>
                </a:solidFill>
                <a:uFillTx/>
                <a:latin typeface="Aptos"/>
              </a:rPr>
              <a:t>COMMUNITY SERVICE PROJECT  |  SOLID WASTE MANAGEMENT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20"/>
          <p:cNvSpPr/>
          <p:nvPr/>
        </p:nvSpPr>
        <p:spPr>
          <a:xfrm>
            <a:off x="11064240" y="6473880"/>
            <a:ext cx="5025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000" strike="noStrike" u="none">
                <a:solidFill>
                  <a:srgbClr val="158078"/>
                </a:solidFill>
                <a:uFillTx/>
                <a:latin typeface="Aptos"/>
              </a:rPr>
              <a:t>10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580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914400" y="1920240"/>
            <a:ext cx="10332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200" strike="noStrike" u="none">
                <a:solidFill>
                  <a:srgbClr val="ffffff"/>
                </a:solidFill>
                <a:uFillTx/>
                <a:latin typeface="Aptos"/>
              </a:rPr>
              <a:t>THANK YOU</a:t>
            </a:r>
            <a:endParaRPr b="0" lang="en-US" sz="4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1097280" y="3063240"/>
            <a:ext cx="9966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ddf2eb"/>
                </a:solidFill>
                <a:uFillTx/>
                <a:latin typeface="Aptos"/>
              </a:rPr>
              <a:t>Let us keep our surroundings clean by separating waste at the source.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914400" y="4251960"/>
            <a:ext cx="10332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e8b143"/>
                </a:solidFill>
                <a:uFillTx/>
                <a:latin typeface="Aptos"/>
              </a:rPr>
              <a:t>Questions &amp; Discussion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914400" y="5806440"/>
            <a:ext cx="10332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ddf2eb"/>
                </a:solidFill>
                <a:uFillTx/>
                <a:latin typeface="Aptos"/>
              </a:rPr>
              <a:t>Awareness on Solid Waste Management | CSP | Civil Engineering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