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80" r:id="rId3"/>
    <p:sldId id="281" r:id="rId4"/>
    <p:sldId id="282" r:id="rId5"/>
    <p:sldId id="283" r:id="rId6"/>
    <p:sldId id="284" r:id="rId7"/>
    <p:sldId id="285" r:id="rId8"/>
    <p:sldId id="294" r:id="rId9"/>
    <p:sldId id="295" r:id="rId10"/>
    <p:sldId id="296" r:id="rId11"/>
    <p:sldId id="297" r:id="rId12"/>
    <p:sldId id="298" r:id="rId13"/>
    <p:sldId id="299" r:id="rId14"/>
    <p:sldId id="300" r:id="rId15"/>
    <p:sldId id="293"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3" userDrawn="1">
          <p15:clr>
            <a:srgbClr val="A4A3A4"/>
          </p15:clr>
        </p15:guide>
        <p15:guide id="2" pos="2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2E8799-49EC-4484-ADFE-2DCA3DAA51ED}" v="1" dt="2026-04-21T04:13:58.3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30" autoAdjust="0"/>
    <p:restoredTop sz="94660"/>
  </p:normalViewPr>
  <p:slideViewPr>
    <p:cSldViewPr showGuides="1">
      <p:cViewPr varScale="1">
        <p:scale>
          <a:sx n="81" d="100"/>
          <a:sy n="81" d="100"/>
        </p:scale>
        <p:origin x="1098" y="39"/>
      </p:cViewPr>
      <p:guideLst>
        <p:guide orient="horz" pos="2133"/>
        <p:guide pos="2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 Nadella" userId="1f187f844e3eaac7" providerId="LiveId" clId="{1DE267ED-6EA5-4A52-837A-6201F923AFDF}"/>
    <pc:docChg chg="modSld">
      <pc:chgData name="Teja Nadella" userId="1f187f844e3eaac7" providerId="LiveId" clId="{1DE267ED-6EA5-4A52-837A-6201F923AFDF}" dt="2026-04-21T04:15:40.689" v="13" actId="1076"/>
      <pc:docMkLst>
        <pc:docMk/>
      </pc:docMkLst>
      <pc:sldChg chg="modSp mod">
        <pc:chgData name="Teja Nadella" userId="1f187f844e3eaac7" providerId="LiveId" clId="{1DE267ED-6EA5-4A52-837A-6201F923AFDF}" dt="2026-04-21T04:15:40.689" v="13" actId="1076"/>
        <pc:sldMkLst>
          <pc:docMk/>
          <pc:sldMk cId="0" sldId="256"/>
        </pc:sldMkLst>
        <pc:spChg chg="mod">
          <ac:chgData name="Teja Nadella" userId="1f187f844e3eaac7" providerId="LiveId" clId="{1DE267ED-6EA5-4A52-837A-6201F923AFDF}" dt="2026-04-21T04:15:40.689" v="13" actId="1076"/>
          <ac:spMkLst>
            <pc:docMk/>
            <pc:sldMk cId="0" sldId="256"/>
            <ac:spMk id="2" creationId="{00000000-0000-0000-0000-000000000000}"/>
          </ac:spMkLst>
        </pc:spChg>
        <pc:picChg chg="mod">
          <ac:chgData name="Teja Nadella" userId="1f187f844e3eaac7" providerId="LiveId" clId="{1DE267ED-6EA5-4A52-837A-6201F923AFDF}" dt="2026-04-21T04:15:21.290" v="10" actId="1035"/>
          <ac:picMkLst>
            <pc:docMk/>
            <pc:sldMk cId="0" sldId="256"/>
            <ac:picMk id="4" creationId="{00000000-0000-0000-0000-00000000000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7569BF2-A1E1-4099-A86D-DE653B522CA8}" type="doc">
      <dgm:prSet loTypeId="urn:microsoft.com/office/officeart/2005/8/layout/vList2#1" loCatId="list" qsTypeId="urn:microsoft.com/office/officeart/2005/8/quickstyle/simple1#1" qsCatId="simple" csTypeId="urn:microsoft.com/office/officeart/2005/8/colors/accent1_2#1" csCatId="accent1"/>
      <dgm:spPr/>
      <dgm:t>
        <a:bodyPr/>
        <a:lstStyle/>
        <a:p>
          <a:endParaRPr lang="en-US"/>
        </a:p>
      </dgm:t>
    </dgm:pt>
    <dgm:pt modelId="{3D8B43D7-4BB9-4BCC-9189-CCDA78C9D9C8}">
      <dgm:prSet/>
      <dgm:spPr/>
      <dgm:t>
        <a:bodyPr/>
        <a:lstStyle/>
        <a:p>
          <a:pPr algn="ctr" rtl="0"/>
          <a:r>
            <a:rPr lang="en-IN" dirty="0"/>
            <a:t>Thank You</a:t>
          </a:r>
          <a:endParaRPr lang="en-US" dirty="0"/>
        </a:p>
      </dgm:t>
    </dgm:pt>
    <dgm:pt modelId="{65F08B90-A5AD-46E8-90E6-A5ABE2406837}" type="parTrans" cxnId="{B889ECA3-7032-4EBB-B961-E4A3CEC4D412}">
      <dgm:prSet/>
      <dgm:spPr/>
      <dgm:t>
        <a:bodyPr/>
        <a:lstStyle/>
        <a:p>
          <a:endParaRPr lang="en-US"/>
        </a:p>
      </dgm:t>
    </dgm:pt>
    <dgm:pt modelId="{3CA7BE23-A94D-4CEE-828E-72716D854337}" type="sibTrans" cxnId="{B889ECA3-7032-4EBB-B961-E4A3CEC4D412}">
      <dgm:prSet/>
      <dgm:spPr/>
      <dgm:t>
        <a:bodyPr/>
        <a:lstStyle/>
        <a:p>
          <a:endParaRPr lang="en-US"/>
        </a:p>
      </dgm:t>
    </dgm:pt>
    <dgm:pt modelId="{05458756-58AC-4B4E-AD5B-99F2E9FCACB1}" type="pres">
      <dgm:prSet presAssocID="{17569BF2-A1E1-4099-A86D-DE653B522CA8}" presName="linear" presStyleCnt="0">
        <dgm:presLayoutVars>
          <dgm:animLvl val="lvl"/>
          <dgm:resizeHandles val="exact"/>
        </dgm:presLayoutVars>
      </dgm:prSet>
      <dgm:spPr/>
    </dgm:pt>
    <dgm:pt modelId="{EBBB49D0-3BBF-41F8-8AC8-CB10E58D723B}" type="pres">
      <dgm:prSet presAssocID="{3D8B43D7-4BB9-4BCC-9189-CCDA78C9D9C8}" presName="parentText" presStyleLbl="node1" presStyleIdx="0" presStyleCnt="1">
        <dgm:presLayoutVars>
          <dgm:chMax val="0"/>
          <dgm:bulletEnabled val="1"/>
        </dgm:presLayoutVars>
      </dgm:prSet>
      <dgm:spPr/>
    </dgm:pt>
  </dgm:ptLst>
  <dgm:cxnLst>
    <dgm:cxn modelId="{B889ECA3-7032-4EBB-B961-E4A3CEC4D412}" srcId="{17569BF2-A1E1-4099-A86D-DE653B522CA8}" destId="{3D8B43D7-4BB9-4BCC-9189-CCDA78C9D9C8}" srcOrd="0" destOrd="0" parTransId="{65F08B90-A5AD-46E8-90E6-A5ABE2406837}" sibTransId="{3CA7BE23-A94D-4CEE-828E-72716D854337}"/>
    <dgm:cxn modelId="{FE8A64C3-B40D-4045-851E-DE7B1EE40158}" type="presOf" srcId="{3D8B43D7-4BB9-4BCC-9189-CCDA78C9D9C8}" destId="{EBBB49D0-3BBF-41F8-8AC8-CB10E58D723B}" srcOrd="0" destOrd="0" presId="urn:microsoft.com/office/officeart/2005/8/layout/vList2#1"/>
    <dgm:cxn modelId="{FA2BE4F9-3BAE-4D32-BF28-1EB187DF235E}" type="presOf" srcId="{17569BF2-A1E1-4099-A86D-DE653B522CA8}" destId="{05458756-58AC-4B4E-AD5B-99F2E9FCACB1}" srcOrd="0" destOrd="0" presId="urn:microsoft.com/office/officeart/2005/8/layout/vList2#1"/>
    <dgm:cxn modelId="{2BD907A7-92EB-4DEF-99A2-4BF88FC0C4D1}" type="presParOf" srcId="{05458756-58AC-4B4E-AD5B-99F2E9FCACB1}" destId="{EBBB49D0-3BBF-41F8-8AC8-CB10E58D723B}" srcOrd="0" destOrd="0" presId="urn:microsoft.com/office/officeart/2005/8/layout/vList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BB49D0-3BBF-41F8-8AC8-CB10E58D723B}">
      <dsp:nvSpPr>
        <dsp:cNvPr id="0" name=""/>
        <dsp:cNvSpPr/>
      </dsp:nvSpPr>
      <dsp:spPr>
        <a:xfrm>
          <a:off x="0" y="6682"/>
          <a:ext cx="8229600" cy="10553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ctr" defTabSz="1955800" rtl="0">
            <a:lnSpc>
              <a:spcPct val="90000"/>
            </a:lnSpc>
            <a:spcBef>
              <a:spcPct val="0"/>
            </a:spcBef>
            <a:spcAft>
              <a:spcPct val="35000"/>
            </a:spcAft>
            <a:buNone/>
          </a:pPr>
          <a:r>
            <a:rPr lang="en-IN" sz="4400" kern="1200" dirty="0"/>
            <a:t>Thank You</a:t>
          </a:r>
          <a:endParaRPr lang="en-US" sz="4400" kern="1200" dirty="0"/>
        </a:p>
      </dsp:txBody>
      <dsp:txXfrm>
        <a:off x="51517" y="58199"/>
        <a:ext cx="8126566" cy="952306"/>
      </dsp:txXfrm>
    </dsp:sp>
  </dsp:spTree>
</dsp:drawing>
</file>

<file path=ppt/diagrams/layout1.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EFBC54-9B96-4680-8F9A-A8BF355DD11F}" type="datetimeFigureOut">
              <a:rPr lang="en-IN" smtClean="0"/>
              <a:pPr/>
              <a:t>21-04-2026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42143A-7A75-44EC-A1DB-BAA983F06CDF}"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C42143A-7A75-44EC-A1DB-BAA983F06CDF}" type="slidenum">
              <a:rPr lang="en-IN" smtClean="0"/>
              <a:pPr/>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185480-E384-47FB-89E0-51DE68FE489C}" type="datetimeFigureOut">
              <a:rPr lang="en-IN" smtClean="0"/>
              <a:pPr/>
              <a:t>21-04-2026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C5A270-00EF-4384-BA76-DF0402A8009C}"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185480-E384-47FB-89E0-51DE68FE489C}" type="datetimeFigureOut">
              <a:rPr lang="en-IN" smtClean="0"/>
              <a:pPr/>
              <a:t>21-04-2026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C5A270-00EF-4384-BA76-DF0402A8009C}"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78450" y="-99392"/>
            <a:ext cx="7730610" cy="1368152"/>
          </a:xfrm>
        </p:spPr>
        <p:txBody>
          <a:bodyPr>
            <a:noAutofit/>
          </a:bodyPr>
          <a:lstStyle/>
          <a:p>
            <a:r>
              <a:rPr lang="en-US" sz="2000" b="1" dirty="0"/>
              <a:t>Cyberbullying Detection Across Social Media Platforms: A Two-Tier Hate Speech Detection System Using SVM and BERT with Confidence-Based Routing </a:t>
            </a:r>
            <a:endParaRPr lang="en-US" altLang="en-US" sz="2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67360" y="2649855"/>
            <a:ext cx="8352790" cy="3875405"/>
          </a:xfrm>
        </p:spPr>
        <p:txBody>
          <a:bodyPr>
            <a:normAutofit fontScale="90000" lnSpcReduction="10000"/>
          </a:bodyPr>
          <a:lstStyle/>
          <a:p>
            <a:pPr algn="just"/>
            <a:r>
              <a:rPr lang="en-US" sz="1800" b="1" dirty="0">
                <a:solidFill>
                  <a:schemeClr val="tx1"/>
                </a:solidFill>
              </a:rPr>
              <a:t>                                                            </a:t>
            </a:r>
            <a:r>
              <a:rPr lang="en-US" sz="1800" b="1" dirty="0">
                <a:solidFill>
                  <a:schemeClr val="tx1"/>
                </a:solidFill>
                <a:effectLst>
                  <a:outerShdw blurRad="38100" dist="19050" dir="2700000" algn="tl" rotWithShape="0">
                    <a:schemeClr val="dk1">
                      <a:alpha val="40000"/>
                    </a:schemeClr>
                  </a:outerShdw>
                </a:effectLst>
              </a:rPr>
              <a:t> </a:t>
            </a:r>
            <a:r>
              <a:rPr lang="en-US" sz="20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Presented By Batch-C5</a:t>
            </a:r>
            <a:r>
              <a:rPr lang="en-US" sz="1800" b="1" dirty="0">
                <a:solidFill>
                  <a:schemeClr val="tx1"/>
                </a:solidFill>
                <a:latin typeface="Times New Roman" panose="02020603050405020304" pitchFamily="18" charset="0"/>
                <a:cs typeface="Times New Roman" panose="02020603050405020304" pitchFamily="18" charset="0"/>
              </a:rPr>
              <a:t>	</a:t>
            </a:r>
          </a:p>
          <a:p>
            <a:pPr algn="just"/>
            <a:r>
              <a:rPr lang="en-US" altLang="en-IN" sz="18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V.Sai</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Pavan</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22481A12H4</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N.Teja</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23485A1216</a:t>
            </a:r>
            <a:endPar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r>
              <a:rPr 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Y.Nitya</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Sri-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22481A12I9</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T.P. </a:t>
            </a:r>
            <a:r>
              <a:rPr lang="en-US" altLang="en-IN" sz="178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Santhosh</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t>
            </a:r>
            <a:r>
              <a:rPr lang="en-US" altLang="en-IN" sz="178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234851A1220</a:t>
            </a:r>
            <a:endParaRPr lang="en-US" sz="1780" b="1" dirty="0">
              <a:solidFill>
                <a:schemeClr val="tx1"/>
              </a:solidFill>
              <a:latin typeface="Times New Roman" panose="02020603050405020304" pitchFamily="18" charset="0"/>
              <a:cs typeface="Times New Roman" panose="02020603050405020304" pitchFamily="18" charset="0"/>
            </a:endParaRPr>
          </a:p>
          <a:p>
            <a:endParaRPr lang="en-US" altLang="en-US" sz="2000" b="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altLang="en-US" sz="2000" b="1" dirty="0">
                <a:solidFill>
                  <a:schemeClr val="tx1"/>
                </a:solidFill>
                <a:latin typeface="Times New Roman" panose="02020603050405020304" pitchFamily="18" charset="0"/>
                <a:cs typeface="Times New Roman" panose="02020603050405020304" pitchFamily="18" charset="0"/>
              </a:rPr>
              <a:t>Under Guidance Of:</a:t>
            </a:r>
            <a:endParaRPr lang="en-US" sz="1800" dirty="0">
              <a:solidFill>
                <a:schemeClr val="tx1"/>
              </a:solidFill>
              <a:latin typeface="Times New Roman" panose="02020603050405020304" pitchFamily="18" charset="0"/>
              <a:cs typeface="Times New Roman" panose="02020603050405020304" pitchFamily="18" charset="0"/>
            </a:endParaRPr>
          </a:p>
          <a:p>
            <a:pPr>
              <a:lnSpc>
                <a:spcPct val="100000"/>
              </a:lnSpc>
            </a:pP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Mrs. A. </a:t>
            </a:r>
            <a:r>
              <a:rPr lang="en-US" altLang="en-US" sz="200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Koteswaramma</a:t>
            </a: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 </a:t>
            </a:r>
            <a:r>
              <a:rPr lang="en-US" altLang="en-US" sz="200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M.Tech</a:t>
            </a: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t>
            </a:r>
            <a:r>
              <a:rPr lang="en-US" altLang="en-US" sz="200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Ph.D</a:t>
            </a: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t>
            </a:r>
            <a:endParaRPr lang="en-IN"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nSpc>
                <a:spcPct val="100000"/>
              </a:lnSpc>
            </a:pPr>
            <a:r>
              <a:rPr lang="en-US" alt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rPr>
              <a:t>Assistant Professor</a:t>
            </a:r>
            <a:endParaRPr lang="en-US"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r>
              <a:rPr lang="en-US" sz="1800" b="1" dirty="0">
                <a:solidFill>
                  <a:schemeClr val="tx1"/>
                </a:solidFill>
                <a:latin typeface="Times New Roman" panose="02020603050405020304" pitchFamily="18" charset="0"/>
                <a:cs typeface="Times New Roman" panose="02020603050405020304" pitchFamily="18" charset="0"/>
              </a:rPr>
              <a:t>Department of Information Technology</a:t>
            </a:r>
          </a:p>
          <a:p>
            <a:r>
              <a:rPr lang="en-US" sz="1600" dirty="0">
                <a:solidFill>
                  <a:schemeClr val="tx1"/>
                </a:solidFill>
                <a:latin typeface="Times New Roman" panose="02020603050405020304" pitchFamily="18" charset="0"/>
                <a:cs typeface="Times New Roman" panose="02020603050405020304" pitchFamily="18" charset="0"/>
              </a:rPr>
              <a:t>SESHADRI RAO GUDLAVALLERU ENGINEERING COLLEGE</a:t>
            </a:r>
          </a:p>
          <a:p>
            <a:r>
              <a:rPr lang="en-US" sz="1600" dirty="0">
                <a:solidFill>
                  <a:schemeClr val="tx1"/>
                </a:solidFill>
                <a:latin typeface="Times New Roman" panose="02020603050405020304" pitchFamily="18" charset="0"/>
                <a:cs typeface="Times New Roman" panose="02020603050405020304" pitchFamily="18" charset="0"/>
              </a:rPr>
              <a:t>(An Autonomous Institute with Permanent Affiliation to JNTUK, Kakinada)</a:t>
            </a:r>
          </a:p>
          <a:p>
            <a:r>
              <a:rPr lang="en-US" sz="1600" dirty="0" err="1">
                <a:solidFill>
                  <a:schemeClr val="tx1"/>
                </a:solidFill>
                <a:latin typeface="Times New Roman" panose="02020603050405020304" pitchFamily="18" charset="0"/>
                <a:cs typeface="Times New Roman" panose="02020603050405020304" pitchFamily="18" charset="0"/>
              </a:rPr>
              <a:t>Seshadri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Rao</a:t>
            </a:r>
            <a:r>
              <a:rPr lang="en-US" sz="1600" dirty="0">
                <a:solidFill>
                  <a:schemeClr val="tx1"/>
                </a:solidFill>
                <a:latin typeface="Times New Roman" panose="02020603050405020304" pitchFamily="18" charset="0"/>
                <a:cs typeface="Times New Roman" panose="02020603050405020304" pitchFamily="18" charset="0"/>
              </a:rPr>
              <a:t> Knowledge Village, </a:t>
            </a:r>
            <a:r>
              <a:rPr lang="en-US" sz="1600" dirty="0" err="1">
                <a:solidFill>
                  <a:schemeClr val="tx1"/>
                </a:solidFill>
                <a:latin typeface="Times New Roman" panose="02020603050405020304" pitchFamily="18" charset="0"/>
                <a:cs typeface="Times New Roman" panose="02020603050405020304" pitchFamily="18" charset="0"/>
              </a:rPr>
              <a:t>Gudlavalleru</a:t>
            </a:r>
            <a:r>
              <a:rPr lang="en-US" sz="1600" dirty="0">
                <a:solidFill>
                  <a:schemeClr val="tx1"/>
                </a:solidFill>
                <a:latin typeface="Times New Roman" panose="02020603050405020304" pitchFamily="18" charset="0"/>
                <a:cs typeface="Times New Roman" panose="02020603050405020304" pitchFamily="18" charset="0"/>
              </a:rPr>
              <a:t> – 521356, Krishna District </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6010" y="1124744"/>
            <a:ext cx="1728470" cy="15659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CONTENTS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5605" y="1563370"/>
            <a:ext cx="8478520" cy="3730625"/>
          </a:xfrm>
        </p:spPr>
        <p:txBody>
          <a:bodyPr>
            <a:noAutofit/>
          </a:bodyPr>
          <a:lstStyle/>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Abstract</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Introduction</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Objectives</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Existing System</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rPr>
              <a:t>Proposed System</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sym typeface="+mn-ea"/>
              </a:rPr>
              <a:t>System Requirements</a:t>
            </a:r>
            <a:endParaRPr lang="en-US" sz="1900" dirty="0">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sym typeface="+mn-ea"/>
              </a:rPr>
              <a:t>Design and Methodology Diagrams</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sym typeface="+mn-ea"/>
              </a:rPr>
              <a:t>Results</a:t>
            </a:r>
          </a:p>
          <a:p>
            <a:pPr>
              <a:lnSpc>
                <a:spcPct val="150000"/>
              </a:lnSpc>
              <a:buFont typeface="Wingdings" panose="05000000000000000000" charset="0"/>
              <a:buChar char="Ø"/>
            </a:pPr>
            <a:r>
              <a:rPr lang="en-US" sz="1900" dirty="0">
                <a:latin typeface="Times New Roman" panose="02020603050405020304" pitchFamily="18" charset="0"/>
                <a:cs typeface="Times New Roman" panose="02020603050405020304" pitchFamily="18" charset="0"/>
                <a:sym typeface="+mn-ea"/>
              </a:rPr>
              <a:t>Conclusion</a:t>
            </a:r>
          </a:p>
          <a:p>
            <a:pPr>
              <a:lnSpc>
                <a:spcPct val="150000"/>
              </a:lnSpc>
              <a:buFont typeface="Wingdings" panose="05000000000000000000" charset="0"/>
              <a:buChar char="Ø"/>
            </a:pPr>
            <a:endParaRPr lang="en-US" sz="1900" dirty="0">
              <a:latin typeface="Times New Roman" panose="02020603050405020304" pitchFamily="18" charset="0"/>
              <a:cs typeface="Times New Roman" panose="02020603050405020304" pitchFamily="18" charset="0"/>
            </a:endParaRPr>
          </a:p>
          <a:p>
            <a:pPr marL="0" indent="0">
              <a:lnSpc>
                <a:spcPct val="150000"/>
              </a:lnSpc>
              <a:buFont typeface="Wingdings" panose="05000000000000000000" pitchFamily="2" charset="2"/>
              <a:buNone/>
            </a:pPr>
            <a:endParaRPr lang="en-IN"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50570"/>
            <a:ext cx="1925320" cy="667385"/>
          </a:xfrm>
        </p:spPr>
        <p:txBody>
          <a:bodyPr>
            <a:noAutofit/>
          </a:bodyPr>
          <a:lstStyle/>
          <a:p>
            <a:r>
              <a:rPr lang="en-US" sz="3200" b="1" u="sng">
                <a:latin typeface="Times New Roman" panose="02020603050405020304" pitchFamily="18" charset="0"/>
                <a:cs typeface="Times New Roman" panose="02020603050405020304" pitchFamily="18" charset="0"/>
              </a:rPr>
              <a:t>Abstract</a:t>
            </a:r>
          </a:p>
        </p:txBody>
      </p:sp>
      <p:sp>
        <p:nvSpPr>
          <p:cNvPr id="4" name="TextBox 3"/>
          <p:cNvSpPr txBox="1"/>
          <p:nvPr/>
        </p:nvSpPr>
        <p:spPr>
          <a:xfrm>
            <a:off x="642910" y="1643050"/>
            <a:ext cx="8143932" cy="3969385"/>
          </a:xfrm>
          <a:prstGeom prst="rect">
            <a:avLst/>
          </a:prstGeom>
          <a:noFill/>
        </p:spPr>
        <p:txBody>
          <a:bodyPr wrap="square" rtlCol="0">
            <a:spAutoFit/>
          </a:bodyPr>
          <a:lstStyle/>
          <a:p>
            <a:pPr algn="just"/>
            <a:r>
              <a:rPr lang="en-US" dirty="0" err="1">
                <a:latin typeface="Times New Roman" panose="02020603050405020304" pitchFamily="18" charset="0"/>
                <a:cs typeface="Times New Roman" panose="02020603050405020304" pitchFamily="18" charset="0"/>
              </a:rPr>
              <a:t>Cyberbullying</a:t>
            </a:r>
            <a:r>
              <a:rPr lang="en-US" dirty="0">
                <a:latin typeface="Times New Roman" panose="02020603050405020304" pitchFamily="18" charset="0"/>
                <a:cs typeface="Times New Roman" panose="02020603050405020304" pitchFamily="18" charset="0"/>
              </a:rPr>
              <a:t> and hate speech on social media pose serious risks to user safety and mental health, demanding more advanced detection methods than traditional keyword-based or rule-driven systems. This project presents a comprehensive framework that integrates machine learning, natural language processing, and deep learning—particularly transformer-based models like BERT(Bidirectional Encoder Representations from Transformers)—to automatically identify harmful content in tweets with improved contextual understanding. To overcome challenges such as informal language, sarcasm, imbalanced datasets, and limited labeled data, the system employs data augmentation and active learning strategies. It further extends detection capabilities through multilingual support, sentiment and emotion analysis, and user behavior modeling to capture patterns of repeated harassment. Emphasizing transparency and ethical considerations, the approach ensures interpretability and accountability, resulting in a scalable, adaptive, and reliable solution that fosters safer online communities.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57166"/>
            <a:ext cx="2633345" cy="542925"/>
          </a:xfrm>
        </p:spPr>
        <p:txBody>
          <a:bodyPr>
            <a:normAutofit fontScale="90000"/>
          </a:bodyPr>
          <a:lstStyle/>
          <a:p>
            <a:r>
              <a:rPr lang="en-US" sz="3555" b="1" u="sng" dirty="0">
                <a:latin typeface="Times New Roman" panose="02020603050405020304" pitchFamily="18" charset="0"/>
                <a:cs typeface="Times New Roman" panose="02020603050405020304" pitchFamily="18" charset="0"/>
              </a:rPr>
              <a:t>Introduction</a:t>
            </a:r>
          </a:p>
        </p:txBody>
      </p:sp>
      <p:sp>
        <p:nvSpPr>
          <p:cNvPr id="4" name="TextBox 3"/>
          <p:cNvSpPr txBox="1"/>
          <p:nvPr/>
        </p:nvSpPr>
        <p:spPr>
          <a:xfrm>
            <a:off x="714348" y="1214422"/>
            <a:ext cx="8001056" cy="4801314"/>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With the rapid growth of social media platforms, </a:t>
            </a:r>
            <a:r>
              <a:rPr lang="en-US" dirty="0" err="1">
                <a:latin typeface="Times New Roman" panose="02020603050405020304" pitchFamily="18" charset="0"/>
                <a:cs typeface="Times New Roman" panose="02020603050405020304" pitchFamily="18" charset="0"/>
              </a:rPr>
              <a:t>cyberbullying</a:t>
            </a:r>
            <a:r>
              <a:rPr lang="en-US" dirty="0">
                <a:latin typeface="Times New Roman" panose="02020603050405020304" pitchFamily="18" charset="0"/>
                <a:cs typeface="Times New Roman" panose="02020603050405020304" pitchFamily="18" charset="0"/>
              </a:rPr>
              <a:t> and hate speech have become pressing issues, threatening users’ mental health and online safety. Traditional detection systems are often keyword-based or rule-driven, which makes them less effective in handling informal language, sarcasm, or evolving abusive patterns. This project proposes using </a:t>
            </a:r>
            <a:r>
              <a:rPr lang="en-US" b="1" dirty="0">
                <a:latin typeface="Times New Roman" panose="02020603050405020304" pitchFamily="18" charset="0"/>
                <a:cs typeface="Times New Roman" panose="02020603050405020304" pitchFamily="18" charset="0"/>
              </a:rPr>
              <a:t>Machine Learning (ML) and Natural Language Processing (NLP)</a:t>
            </a:r>
            <a:r>
              <a:rPr lang="en-US" dirty="0">
                <a:latin typeface="Times New Roman" panose="02020603050405020304" pitchFamily="18" charset="0"/>
                <a:cs typeface="Times New Roman" panose="02020603050405020304" pitchFamily="18" charset="0"/>
              </a:rPr>
              <a:t> to automatically detect </a:t>
            </a:r>
            <a:r>
              <a:rPr lang="en-US" dirty="0" err="1">
                <a:latin typeface="Times New Roman" panose="02020603050405020304" pitchFamily="18" charset="0"/>
                <a:cs typeface="Times New Roman" panose="02020603050405020304" pitchFamily="18" charset="0"/>
              </a:rPr>
              <a:t>cyberbullying</a:t>
            </a:r>
            <a:r>
              <a:rPr lang="en-US" dirty="0">
                <a:latin typeface="Times New Roman" panose="02020603050405020304" pitchFamily="18" charset="0"/>
                <a:cs typeface="Times New Roman" panose="02020603050405020304" pitchFamily="18" charset="0"/>
              </a:rPr>
              <a:t> in real time. Ensemble models such as Random Forest and advanced deep learning architectures, including transformer-based models like BERT, are applied to capture the context and intent behind harmful posts. To improve robustness, techniques like data augmentation and active learning address challenges such as data imbalance and limited labeled datasets. The system is further extended to support </a:t>
            </a:r>
            <a:r>
              <a:rPr lang="en-US" b="1" dirty="0">
                <a:latin typeface="Times New Roman" panose="02020603050405020304" pitchFamily="18" charset="0"/>
                <a:cs typeface="Times New Roman" panose="02020603050405020304" pitchFamily="18" charset="0"/>
              </a:rPr>
              <a:t>multilingual detection, sentiment and emotion analysis, and user behavior modeling</a:t>
            </a:r>
            <a:r>
              <a:rPr lang="en-US" dirty="0">
                <a:latin typeface="Times New Roman" panose="02020603050405020304" pitchFamily="18" charset="0"/>
                <a:cs typeface="Times New Roman" panose="02020603050405020304" pitchFamily="18" charset="0"/>
              </a:rPr>
              <a:t>. By integrating explainable AI, the framework ensures transparency and trust, while a proposed real-time deployment on social media platforms and browser extensions enables proactive intervention. Together, these methods create a </a:t>
            </a:r>
            <a:r>
              <a:rPr lang="en-US" b="1" dirty="0">
                <a:latin typeface="Times New Roman" panose="02020603050405020304" pitchFamily="18" charset="0"/>
                <a:cs typeface="Times New Roman" panose="02020603050405020304" pitchFamily="18" charset="0"/>
              </a:rPr>
              <a:t>scalable, adaptive, and trustworthy solution</a:t>
            </a:r>
            <a:r>
              <a:rPr lang="en-US" dirty="0">
                <a:latin typeface="Times New Roman" panose="02020603050405020304" pitchFamily="18" charset="0"/>
                <a:cs typeface="Times New Roman" panose="02020603050405020304" pitchFamily="18" charset="0"/>
              </a:rPr>
              <a:t> for building safer online communities.</a:t>
            </a: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065" y="274955"/>
            <a:ext cx="2026285" cy="984885"/>
          </a:xfrm>
        </p:spPr>
        <p:txBody>
          <a:bodyPr/>
          <a:lstStyle/>
          <a:p>
            <a:r>
              <a:rPr lang="en-IN" altLang="en-US" sz="3200" b="1" u="sng">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285720" y="1357298"/>
            <a:ext cx="8420735" cy="5011420"/>
          </a:xfrm>
        </p:spPr>
        <p:txBody>
          <a:bodyPr>
            <a:noAutofit/>
          </a:bodyPr>
          <a:lstStyle/>
          <a:p>
            <a:pPr algn="just"/>
            <a:r>
              <a:rPr lang="en-US" sz="1800" b="1" dirty="0">
                <a:latin typeface="Times New Roman" panose="02020603050405020304" pitchFamily="18" charset="0"/>
                <a:cs typeface="Times New Roman" panose="02020603050405020304" pitchFamily="18" charset="0"/>
              </a:rPr>
              <a:t>To develop an automated system</a:t>
            </a:r>
            <a:r>
              <a:rPr lang="en-US" sz="1800" dirty="0">
                <a:latin typeface="Times New Roman" panose="02020603050405020304" pitchFamily="18" charset="0"/>
                <a:cs typeface="Times New Roman" panose="02020603050405020304" pitchFamily="18" charset="0"/>
              </a:rPr>
              <a:t> for detecting </a:t>
            </a:r>
            <a:r>
              <a:rPr lang="en-US" sz="1800" dirty="0" err="1">
                <a:latin typeface="Times New Roman" panose="02020603050405020304" pitchFamily="18" charset="0"/>
                <a:cs typeface="Times New Roman" panose="02020603050405020304" pitchFamily="18" charset="0"/>
              </a:rPr>
              <a:t>cyberbullying</a:t>
            </a:r>
            <a:r>
              <a:rPr lang="en-US" sz="1800" dirty="0">
                <a:latin typeface="Times New Roman" panose="02020603050405020304" pitchFamily="18" charset="0"/>
                <a:cs typeface="Times New Roman" panose="02020603050405020304" pitchFamily="18" charset="0"/>
              </a:rPr>
              <a:t> and hate speech in social media posts, with a primary focus on tweets.</a:t>
            </a:r>
          </a:p>
          <a:p>
            <a:pPr algn="just"/>
            <a:r>
              <a:rPr lang="en-US" sz="1800" b="1" dirty="0">
                <a:latin typeface="Times New Roman" panose="02020603050405020304" pitchFamily="18" charset="0"/>
                <a:cs typeface="Times New Roman" panose="02020603050405020304" pitchFamily="18" charset="0"/>
              </a:rPr>
              <a:t>To compare the performance</a:t>
            </a:r>
            <a:r>
              <a:rPr lang="en-US" sz="1800" dirty="0">
                <a:latin typeface="Times New Roman" panose="02020603050405020304" pitchFamily="18" charset="0"/>
                <a:cs typeface="Times New Roman" panose="02020603050405020304" pitchFamily="18" charset="0"/>
              </a:rPr>
              <a:t> of traditional supervised machine learning classifiers with ensemble methods for </a:t>
            </a:r>
            <a:r>
              <a:rPr lang="en-US" sz="1800" dirty="0" err="1">
                <a:latin typeface="Times New Roman" panose="02020603050405020304" pitchFamily="18" charset="0"/>
                <a:cs typeface="Times New Roman" panose="02020603050405020304" pitchFamily="18" charset="0"/>
              </a:rPr>
              <a:t>cyberbullying</a:t>
            </a:r>
            <a:r>
              <a:rPr lang="en-US" sz="1800" dirty="0">
                <a:latin typeface="Times New Roman" panose="02020603050405020304" pitchFamily="18" charset="0"/>
                <a:cs typeface="Times New Roman" panose="02020603050405020304" pitchFamily="18" charset="0"/>
              </a:rPr>
              <a:t> detection.</a:t>
            </a:r>
          </a:p>
          <a:p>
            <a:pPr algn="just"/>
            <a:r>
              <a:rPr lang="en-US" sz="1800" b="1" dirty="0">
                <a:latin typeface="Times New Roman" panose="02020603050405020304" pitchFamily="18" charset="0"/>
                <a:cs typeface="Times New Roman" panose="02020603050405020304" pitchFamily="18" charset="0"/>
              </a:rPr>
              <a:t>To explore deep learning and transformer-based models</a:t>
            </a:r>
            <a:r>
              <a:rPr lang="en-US" sz="1800" dirty="0">
                <a:latin typeface="Times New Roman" panose="02020603050405020304" pitchFamily="18" charset="0"/>
                <a:cs typeface="Times New Roman" panose="02020603050405020304" pitchFamily="18" charset="0"/>
              </a:rPr>
              <a:t> (e.g., BERT) for improved contextual understanding and detection accuracy.</a:t>
            </a:r>
          </a:p>
          <a:p>
            <a:pPr algn="just"/>
            <a:r>
              <a:rPr lang="en-US" sz="1800" b="1" dirty="0">
                <a:latin typeface="Times New Roman" panose="02020603050405020304" pitchFamily="18" charset="0"/>
                <a:cs typeface="Times New Roman" panose="02020603050405020304" pitchFamily="18" charset="0"/>
              </a:rPr>
              <a:t>To address key challenges</a:t>
            </a:r>
            <a:r>
              <a:rPr lang="en-US" sz="1800" dirty="0">
                <a:latin typeface="Times New Roman" panose="02020603050405020304" pitchFamily="18" charset="0"/>
                <a:cs typeface="Times New Roman" panose="02020603050405020304" pitchFamily="18" charset="0"/>
              </a:rPr>
              <a:t> such as informal language, sarcasm, data imbalance, and scarcity of high-quality labeled datasets using advanced techniques like data augmentation and active learning.</a:t>
            </a:r>
          </a:p>
          <a:p>
            <a:pPr algn="just"/>
            <a:r>
              <a:rPr lang="en-US" sz="1800" b="1" dirty="0">
                <a:latin typeface="Times New Roman" panose="02020603050405020304" pitchFamily="18" charset="0"/>
                <a:cs typeface="Times New Roman" panose="02020603050405020304" pitchFamily="18" charset="0"/>
              </a:rPr>
              <a:t>To extend detection capabilities</a:t>
            </a:r>
            <a:r>
              <a:rPr lang="en-US" sz="1800" dirty="0">
                <a:latin typeface="Times New Roman" panose="02020603050405020304" pitchFamily="18" charset="0"/>
                <a:cs typeface="Times New Roman" panose="02020603050405020304" pitchFamily="18" charset="0"/>
              </a:rPr>
              <a:t> to multilingual text, sentiment and emotion analysis, and user behavior modeling for identifying repeated harassment patterns.</a:t>
            </a:r>
          </a:p>
          <a:p>
            <a:pPr algn="just"/>
            <a:r>
              <a:rPr lang="en-US" sz="1800" b="1" dirty="0">
                <a:latin typeface="Times New Roman" panose="02020603050405020304" pitchFamily="18" charset="0"/>
                <a:cs typeface="Times New Roman" panose="02020603050405020304" pitchFamily="18" charset="0"/>
              </a:rPr>
              <a:t>To design a real-time detection framework</a:t>
            </a:r>
            <a:r>
              <a:rPr lang="en-US" sz="1800" dirty="0">
                <a:latin typeface="Times New Roman" panose="02020603050405020304" pitchFamily="18" charset="0"/>
                <a:cs typeface="Times New Roman" panose="02020603050405020304" pitchFamily="18" charset="0"/>
              </a:rPr>
              <a:t> that can be integrated into social media platforms and browser extensions for proactive intervention.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785"/>
            <a:ext cx="2696210" cy="725170"/>
          </a:xfrm>
        </p:spPr>
        <p:txBody>
          <a:bodyPr>
            <a:normAutofit fontScale="90000"/>
          </a:bodyPr>
          <a:lstStyle/>
          <a:p>
            <a:r>
              <a:rPr lang="en-IN" altLang="en-US" sz="3200" b="1" u="sng">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457200" y="1450340"/>
            <a:ext cx="8229600" cy="4676140"/>
          </a:xfrm>
        </p:spPr>
        <p:txBody>
          <a:bodyPr>
            <a:noAutofit/>
          </a:bodyPr>
          <a:lstStyle/>
          <a:p>
            <a:pPr algn="just"/>
            <a:r>
              <a:rPr lang="en-US" sz="2400" dirty="0">
                <a:latin typeface="Times New Roman" panose="02020603050405020304" pitchFamily="18" charset="0"/>
                <a:cs typeface="Times New Roman" panose="02020603050405020304" pitchFamily="18" charset="0"/>
              </a:rPr>
              <a:t>Traditional hate speech and bullying detection relied on manual moderation or simple keyword filters.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Some studies used linear classifiers like </a:t>
            </a:r>
            <a:r>
              <a:rPr lang="en-US" sz="2400" dirty="0"/>
              <a:t>Gaussian Naive </a:t>
            </a:r>
            <a:r>
              <a:rPr lang="en-US" sz="2400" dirty="0" err="1"/>
              <a:t>Bayes</a:t>
            </a:r>
            <a:r>
              <a:rPr lang="en-US" sz="2400" dirty="0"/>
              <a:t>, Logistic Regression, Decision Tree </a:t>
            </a:r>
            <a:r>
              <a:rPr lang="en-US" sz="2400" dirty="0">
                <a:latin typeface="Times New Roman" panose="02020603050405020304" pitchFamily="18" charset="0"/>
                <a:cs typeface="Times New Roman" panose="02020603050405020304" pitchFamily="18" charset="0"/>
              </a:rPr>
              <a:t>with moderate results but lacked scalability and context understanding.</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Limited use of ensemble models and social/network features in earlier systems.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116500"/>
            <a:ext cx="3096260" cy="584200"/>
          </a:xfrm>
        </p:spPr>
        <p:txBody>
          <a:bodyPr>
            <a:normAutofit fontScale="90000"/>
          </a:bodyPr>
          <a:lstStyle/>
          <a:p>
            <a:r>
              <a:rPr lang="en-IN" altLang="en-US" sz="3200" b="1" u="sng" dirty="0">
                <a:latin typeface="Times New Roman" panose="02020603050405020304" pitchFamily="18" charset="0"/>
                <a:cs typeface="Times New Roman" panose="02020603050405020304" pitchFamily="18" charset="0"/>
              </a:rPr>
              <a:t>Proposed System</a:t>
            </a:r>
          </a:p>
        </p:txBody>
      </p:sp>
      <p:sp>
        <p:nvSpPr>
          <p:cNvPr id="5" name="TextBox 4"/>
          <p:cNvSpPr txBox="1"/>
          <p:nvPr/>
        </p:nvSpPr>
        <p:spPr>
          <a:xfrm>
            <a:off x="539722" y="700387"/>
            <a:ext cx="8215370" cy="563231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proposed system leverages advanced Machine Learning (ML), Natural Language Processing (NLP), and Deep Learning techniques to detect </a:t>
            </a:r>
            <a:r>
              <a:rPr lang="en-US" dirty="0" err="1">
                <a:latin typeface="Times New Roman" panose="02020603050405020304" pitchFamily="18" charset="0"/>
                <a:cs typeface="Times New Roman" panose="02020603050405020304" pitchFamily="18" charset="0"/>
              </a:rPr>
              <a:t>cyberbullying</a:t>
            </a:r>
            <a:r>
              <a:rPr lang="en-US" dirty="0">
                <a:latin typeface="Times New Roman" panose="02020603050405020304" pitchFamily="18" charset="0"/>
                <a:cs typeface="Times New Roman" panose="02020603050405020304" pitchFamily="18" charset="0"/>
              </a:rPr>
              <a:t> and hate speech more effectively than traditional methods. Instead of relying on simple keyword filters or linear models, the system applies:</a:t>
            </a:r>
          </a:p>
          <a:p>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t>SVM (Support Vector Machines) </a:t>
            </a:r>
            <a:r>
              <a:rPr lang="en-US" dirty="0">
                <a:latin typeface="Times New Roman" panose="02020603050405020304" pitchFamily="18" charset="0"/>
                <a:cs typeface="Times New Roman" panose="02020603050405020304" pitchFamily="18" charset="0"/>
              </a:rPr>
              <a:t>for higher accuracy  and scalability.</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Deep Learning and Transformer-based architectures (e.g., BERT) </a:t>
            </a:r>
            <a:r>
              <a:rPr lang="en-US" dirty="0">
                <a:latin typeface="Times New Roman" panose="02020603050405020304" pitchFamily="18" charset="0"/>
                <a:cs typeface="Times New Roman" panose="02020603050405020304" pitchFamily="18" charset="0"/>
              </a:rPr>
              <a:t>to capture semantic meaning, sarcasm, and contextual relationships in text.</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Data augmentation  </a:t>
            </a:r>
            <a:r>
              <a:rPr lang="en-US" dirty="0">
                <a:latin typeface="Times New Roman" panose="02020603050405020304" pitchFamily="18" charset="0"/>
                <a:cs typeface="Times New Roman" panose="02020603050405020304" pitchFamily="18" charset="0"/>
              </a:rPr>
              <a:t>to address data imbalance and enhance model robustness.</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Multilingual support </a:t>
            </a:r>
            <a:r>
              <a:rPr lang="en-US" dirty="0">
                <a:latin typeface="Times New Roman" panose="02020603050405020304" pitchFamily="18" charset="0"/>
                <a:cs typeface="Times New Roman" panose="02020603050405020304" pitchFamily="18" charset="0"/>
              </a:rPr>
              <a:t>for handling diverse user communities.</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Sentiment and emotion analysis </a:t>
            </a:r>
            <a:r>
              <a:rPr lang="en-US" dirty="0">
                <a:latin typeface="Times New Roman" panose="02020603050405020304" pitchFamily="18" charset="0"/>
                <a:cs typeface="Times New Roman" panose="02020603050405020304" pitchFamily="18" charset="0"/>
              </a:rPr>
              <a:t>combined with user behavior modeling to detect repeated harassment patterns.</a:t>
            </a:r>
          </a:p>
          <a:p>
            <a:pPr lvl="1">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Real-time detection framework </a:t>
            </a:r>
            <a:r>
              <a:rPr lang="en-US" dirty="0">
                <a:latin typeface="Times New Roman" panose="02020603050405020304" pitchFamily="18" charset="0"/>
                <a:cs typeface="Times New Roman" panose="02020603050405020304" pitchFamily="18" charset="0"/>
              </a:rPr>
              <a:t>integrated with social media platforms or browser extensions for proactive intervention.</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15" y="260985"/>
            <a:ext cx="4147820" cy="867410"/>
          </a:xfrm>
        </p:spPr>
        <p:txBody>
          <a:bodyPr/>
          <a:lstStyle/>
          <a:p>
            <a:r>
              <a:rPr lang="en-US" sz="2800" b="1" u="sng" dirty="0">
                <a:latin typeface="Times New Roman" panose="02020603050405020304" pitchFamily="18" charset="0"/>
                <a:cs typeface="Times New Roman" panose="02020603050405020304" pitchFamily="18" charset="0"/>
                <a:sym typeface="+mn-ea"/>
              </a:rPr>
              <a:t>System Requirements</a:t>
            </a:r>
            <a:endParaRPr lang="en-US" sz="2800" b="1" u="sng"/>
          </a:p>
        </p:txBody>
      </p:sp>
      <p:sp>
        <p:nvSpPr>
          <p:cNvPr id="3" name="Content Placeholder 2"/>
          <p:cNvSpPr>
            <a:spLocks noGrp="1"/>
          </p:cNvSpPr>
          <p:nvPr>
            <p:ph idx="1"/>
          </p:nvPr>
        </p:nvSpPr>
        <p:spPr>
          <a:xfrm>
            <a:off x="457200" y="1128395"/>
            <a:ext cx="8229600" cy="4525963"/>
          </a:xfrm>
        </p:spPr>
        <p:txBody>
          <a:bodyPr>
            <a:normAutofit/>
          </a:bodyPr>
          <a:lstStyle/>
          <a:p>
            <a:pPr marL="0" indent="0">
              <a:buNone/>
            </a:pPr>
            <a:endParaRPr lang="en-US" altLang="en-US"/>
          </a:p>
          <a:p>
            <a:r>
              <a:rPr lang="en-US" altLang="en-US" sz="2220" b="1">
                <a:latin typeface="Times New Roman" panose="02020603050405020304" pitchFamily="18" charset="0"/>
                <a:cs typeface="Times New Roman" panose="02020603050405020304" pitchFamily="18" charset="0"/>
              </a:rPr>
              <a:t>Hardware: </a:t>
            </a:r>
            <a:r>
              <a:rPr lang="en-US" altLang="en-US" sz="2220">
                <a:latin typeface="Times New Roman" panose="02020603050405020304" pitchFamily="18" charset="0"/>
                <a:cs typeface="Times New Roman" panose="02020603050405020304" pitchFamily="18" charset="0"/>
              </a:rPr>
              <a:t>Processor (i5 or higher), 8GB+ RAM, GPU (for DL), storage.</a:t>
            </a:r>
          </a:p>
          <a:p>
            <a:endParaRPr lang="en-US" altLang="en-US" sz="2220">
              <a:latin typeface="Times New Roman" panose="02020603050405020304" pitchFamily="18" charset="0"/>
              <a:cs typeface="Times New Roman" panose="02020603050405020304" pitchFamily="18" charset="0"/>
            </a:endParaRPr>
          </a:p>
          <a:p>
            <a:r>
              <a:rPr lang="en-US" altLang="en-US" sz="2220" b="1">
                <a:latin typeface="Times New Roman" panose="02020603050405020304" pitchFamily="18" charset="0"/>
                <a:cs typeface="Times New Roman" panose="02020603050405020304" pitchFamily="18" charset="0"/>
              </a:rPr>
              <a:t>Software: </a:t>
            </a:r>
            <a:r>
              <a:rPr lang="en-US" altLang="en-US" sz="2220">
                <a:latin typeface="Times New Roman" panose="02020603050405020304" pitchFamily="18" charset="0"/>
                <a:cs typeface="Times New Roman" panose="02020603050405020304" pitchFamily="18" charset="0"/>
              </a:rPr>
              <a:t>Python, TensorFlow/PyTorch, scikit-learn, NLP libraries (NLTK, spaCy, Transformers).</a:t>
            </a:r>
          </a:p>
          <a:p>
            <a:endParaRPr lang="en-US" altLang="en-US" sz="2220">
              <a:latin typeface="Times New Roman" panose="02020603050405020304" pitchFamily="18" charset="0"/>
              <a:cs typeface="Times New Roman" panose="02020603050405020304" pitchFamily="18" charset="0"/>
            </a:endParaRPr>
          </a:p>
          <a:p>
            <a:r>
              <a:rPr lang="en-US" altLang="en-US" sz="2220" b="1">
                <a:latin typeface="Times New Roman" panose="02020603050405020304" pitchFamily="18" charset="0"/>
                <a:cs typeface="Times New Roman" panose="02020603050405020304" pitchFamily="18" charset="0"/>
              </a:rPr>
              <a:t>Development Tools:</a:t>
            </a:r>
            <a:r>
              <a:rPr lang="en-US" altLang="en-US" sz="2220">
                <a:latin typeface="Times New Roman" panose="02020603050405020304" pitchFamily="18" charset="0"/>
                <a:cs typeface="Times New Roman" panose="02020603050405020304" pitchFamily="18" charset="0"/>
              </a:rPr>
              <a:t> Jupyter Notebook, PyCharm/VS Code, APIs for data collection (Twitter API)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5720" y="428604"/>
            <a:ext cx="5026025" cy="560387"/>
          </a:xfrm>
        </p:spPr>
        <p:txBody>
          <a:bodyPr>
            <a:normAutofit fontScale="90000"/>
          </a:bodyPr>
          <a:lstStyle/>
          <a:p>
            <a:r>
              <a:rPr lang="en-US" sz="2800" b="1" u="sng" dirty="0">
                <a:latin typeface="Times New Roman" panose="02020603050405020304" pitchFamily="18" charset="0"/>
                <a:cs typeface="Times New Roman" panose="02020603050405020304" pitchFamily="18" charset="0"/>
                <a:sym typeface="+mn-ea"/>
              </a:rPr>
              <a:t>Design and Methodology Diagrams</a:t>
            </a:r>
          </a:p>
        </p:txBody>
      </p:sp>
      <p:sp>
        <p:nvSpPr>
          <p:cNvPr id="6" name="TextBox 5"/>
          <p:cNvSpPr txBox="1"/>
          <p:nvPr/>
        </p:nvSpPr>
        <p:spPr>
          <a:xfrm>
            <a:off x="428596" y="1071546"/>
            <a:ext cx="4071966" cy="369332"/>
          </a:xfrm>
          <a:prstGeom prst="rect">
            <a:avLst/>
          </a:prstGeom>
          <a:noFill/>
        </p:spPr>
        <p:txBody>
          <a:bodyPr wrap="square" rtlCol="0">
            <a:spAutoFit/>
          </a:bodyPr>
          <a:lstStyle/>
          <a:p>
            <a:r>
              <a:rPr lang="en-US" b="1" dirty="0"/>
              <a:t>System Work Flow:</a:t>
            </a:r>
          </a:p>
        </p:txBody>
      </p:sp>
      <p:pic>
        <p:nvPicPr>
          <p:cNvPr id="4098" name="Picture 2" descr="C:\Users\LIB\Downloads\Temp\System Architecture.png"/>
          <p:cNvPicPr>
            <a:picLocks noChangeAspect="1" noChangeArrowheads="1"/>
          </p:cNvPicPr>
          <p:nvPr/>
        </p:nvPicPr>
        <p:blipFill>
          <a:blip r:embed="rId2"/>
          <a:srcRect/>
          <a:stretch>
            <a:fillRect/>
          </a:stretch>
        </p:blipFill>
        <p:spPr bwMode="auto">
          <a:xfrm>
            <a:off x="2285984" y="1285860"/>
            <a:ext cx="5143536" cy="5302043"/>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85720" y="357166"/>
            <a:ext cx="2571768" cy="400110"/>
          </a:xfrm>
          <a:prstGeom prst="rect">
            <a:avLst/>
          </a:prstGeom>
          <a:noFill/>
        </p:spPr>
        <p:txBody>
          <a:bodyPr wrap="square" rtlCol="0">
            <a:spAutoFit/>
          </a:bodyPr>
          <a:lstStyle/>
          <a:p>
            <a:r>
              <a:rPr lang="en-IN" altLang="en-US" sz="2000" b="1" dirty="0">
                <a:latin typeface="Times New Roman" panose="02020603050405020304" pitchFamily="18" charset="0"/>
                <a:cs typeface="Times New Roman" panose="02020603050405020304" pitchFamily="18" charset="0"/>
              </a:rPr>
              <a:t>Sequence Diagram</a:t>
            </a:r>
          </a:p>
        </p:txBody>
      </p:sp>
      <p:pic>
        <p:nvPicPr>
          <p:cNvPr id="3074" name="Picture 2" descr="C:\Users\LIB\Downloads\Temp\sequence_diagram.png"/>
          <p:cNvPicPr>
            <a:picLocks noChangeAspect="1" noChangeArrowheads="1"/>
          </p:cNvPicPr>
          <p:nvPr/>
        </p:nvPicPr>
        <p:blipFill>
          <a:blip r:embed="rId2"/>
          <a:srcRect/>
          <a:stretch>
            <a:fillRect/>
          </a:stretch>
        </p:blipFill>
        <p:spPr bwMode="auto">
          <a:xfrm>
            <a:off x="285720" y="1285860"/>
            <a:ext cx="8616013" cy="4500594"/>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428604"/>
            <a:ext cx="2786082" cy="400110"/>
          </a:xfrm>
          <a:prstGeom prst="rect">
            <a:avLst/>
          </a:prstGeom>
          <a:noFill/>
        </p:spPr>
        <p:txBody>
          <a:bodyPr wrap="square" rtlCol="0">
            <a:spAutoFit/>
          </a:bodyPr>
          <a:lstStyle/>
          <a:p>
            <a:r>
              <a:rPr lang="en-US" sz="2000" b="1" dirty="0">
                <a:latin typeface="Times New Roman" pitchFamily="18" charset="0"/>
                <a:cs typeface="Times New Roman" pitchFamily="18" charset="0"/>
              </a:rPr>
              <a:t>Use Case Diagram</a:t>
            </a:r>
          </a:p>
        </p:txBody>
      </p:sp>
      <p:pic>
        <p:nvPicPr>
          <p:cNvPr id="26628" name="Picture 4" descr="C:\Users\LIB\AppData\Local\Microsoft\Windows\Clipboard\HistoryData\{DA553CB3-280C-4440-9CFF-8AD294F644DD}\{C6F99C14-DC4F-417F-BFF4-5A92E4F6287B}\ResourceMap\{05A93807-0B5D-491A-BBE3-E280BC90A27A}"/>
          <p:cNvPicPr>
            <a:picLocks noChangeAspect="1" noChangeArrowheads="1"/>
          </p:cNvPicPr>
          <p:nvPr/>
        </p:nvPicPr>
        <p:blipFill>
          <a:blip r:embed="rId2"/>
          <a:srcRect/>
          <a:stretch>
            <a:fillRect/>
          </a:stretch>
        </p:blipFill>
        <p:spPr bwMode="auto">
          <a:xfrm>
            <a:off x="428596" y="1214422"/>
            <a:ext cx="8244567" cy="500066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C:\Users\LIB\Downloads\Temp\Class Diagram.png"/>
          <p:cNvPicPr>
            <a:picLocks noChangeAspect="1" noChangeArrowheads="1"/>
          </p:cNvPicPr>
          <p:nvPr/>
        </p:nvPicPr>
        <p:blipFill>
          <a:blip r:embed="rId2"/>
          <a:srcRect/>
          <a:stretch>
            <a:fillRect/>
          </a:stretch>
        </p:blipFill>
        <p:spPr bwMode="auto">
          <a:xfrm>
            <a:off x="1785918" y="142852"/>
            <a:ext cx="5500726" cy="6715148"/>
          </a:xfrm>
          <a:prstGeom prst="rect">
            <a:avLst/>
          </a:prstGeom>
          <a:noFill/>
        </p:spPr>
      </p:pic>
      <p:sp>
        <p:nvSpPr>
          <p:cNvPr id="2" name="TextBox 1"/>
          <p:cNvSpPr txBox="1"/>
          <p:nvPr/>
        </p:nvSpPr>
        <p:spPr>
          <a:xfrm>
            <a:off x="285720" y="142852"/>
            <a:ext cx="3214710" cy="400110"/>
          </a:xfrm>
          <a:prstGeom prst="rect">
            <a:avLst/>
          </a:prstGeom>
          <a:noFill/>
        </p:spPr>
        <p:txBody>
          <a:bodyPr wrap="square" rtlCol="0">
            <a:spAutoFit/>
          </a:bodyPr>
          <a:lstStyle/>
          <a:p>
            <a:r>
              <a:rPr lang="en-US" sz="2000" b="1" dirty="0">
                <a:latin typeface="Times New Roman" pitchFamily="18" charset="0"/>
                <a:cs typeface="Times New Roman" pitchFamily="18" charset="0"/>
              </a:rPr>
              <a:t>Class Diagram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DDABB1-DBA4-5595-19B5-6886A1075FA2}"/>
              </a:ext>
            </a:extLst>
          </p:cNvPr>
          <p:cNvSpPr txBox="1"/>
          <p:nvPr/>
        </p:nvSpPr>
        <p:spPr>
          <a:xfrm>
            <a:off x="395536" y="542362"/>
            <a:ext cx="8856984"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Results</a:t>
            </a:r>
          </a:p>
        </p:txBody>
      </p:sp>
      <p:pic>
        <p:nvPicPr>
          <p:cNvPr id="3" name="table">
            <a:extLst>
              <a:ext uri="{FF2B5EF4-FFF2-40B4-BE49-F238E27FC236}">
                <a16:creationId xmlns:a16="http://schemas.microsoft.com/office/drawing/2014/main" id="{80204067-0DE6-5B98-6AB6-467BDA4B4CA1}"/>
              </a:ext>
            </a:extLst>
          </p:cNvPr>
          <p:cNvPicPr>
            <a:picLocks noChangeAspect="1"/>
          </p:cNvPicPr>
          <p:nvPr/>
        </p:nvPicPr>
        <p:blipFill>
          <a:blip r:embed="rId2"/>
          <a:stretch>
            <a:fillRect/>
          </a:stretch>
        </p:blipFill>
        <p:spPr>
          <a:xfrm>
            <a:off x="1187624" y="3789040"/>
            <a:ext cx="6624736" cy="2847617"/>
          </a:xfrm>
          <a:prstGeom prst="rect">
            <a:avLst/>
          </a:prstGeom>
        </p:spPr>
      </p:pic>
      <p:sp>
        <p:nvSpPr>
          <p:cNvPr id="5" name="TextBox 4">
            <a:extLst>
              <a:ext uri="{FF2B5EF4-FFF2-40B4-BE49-F238E27FC236}">
                <a16:creationId xmlns:a16="http://schemas.microsoft.com/office/drawing/2014/main" id="{BB998254-CAAB-83CE-398C-C15976D22062}"/>
              </a:ext>
            </a:extLst>
          </p:cNvPr>
          <p:cNvSpPr txBox="1"/>
          <p:nvPr/>
        </p:nvSpPr>
        <p:spPr>
          <a:xfrm>
            <a:off x="827584" y="1124744"/>
            <a:ext cx="7632848" cy="2376264"/>
          </a:xfrm>
          <a:prstGeom prst="rect">
            <a:avLst/>
          </a:prstGeom>
          <a:noFill/>
        </p:spPr>
        <p:txBody>
          <a:bodyPr wrap="square">
            <a:spAutoFit/>
          </a:bodyPr>
          <a:lstStyle/>
          <a:p>
            <a:pPr algn="just">
              <a:buNone/>
            </a:pPr>
            <a:r>
              <a:rPr lang="en-US" b="0" i="0" dirty="0">
                <a:effectLst/>
                <a:latin typeface="Times New Roman" panose="02020603050405020304" pitchFamily="18" charset="0"/>
                <a:cs typeface="Times New Roman" panose="02020603050405020304" pitchFamily="18" charset="0"/>
              </a:rPr>
              <a:t>The proposed </a:t>
            </a:r>
            <a:r>
              <a:rPr lang="en-US" b="1" i="0" dirty="0">
                <a:effectLst/>
                <a:latin typeface="Times New Roman" panose="02020603050405020304" pitchFamily="18" charset="0"/>
                <a:cs typeface="Times New Roman" panose="02020603050405020304" pitchFamily="18" charset="0"/>
              </a:rPr>
              <a:t>two-tier hate speech detection system</a:t>
            </a:r>
            <a:r>
              <a:rPr lang="en-US" b="0" i="0" dirty="0">
                <a:effectLst/>
                <a:latin typeface="Times New Roman" panose="02020603050405020304" pitchFamily="18" charset="0"/>
                <a:cs typeface="Times New Roman" panose="02020603050405020304" pitchFamily="18" charset="0"/>
              </a:rPr>
              <a:t> achieved 93.2% accuracy while maintaining moderate latency of 30 </a:t>
            </a:r>
            <a:r>
              <a:rPr lang="en-US" b="0" i="0" dirty="0" err="1">
                <a:effectLst/>
                <a:latin typeface="Times New Roman" panose="02020603050405020304" pitchFamily="18" charset="0"/>
                <a:cs typeface="Times New Roman" panose="02020603050405020304" pitchFamily="18" charset="0"/>
              </a:rPr>
              <a:t>ms</a:t>
            </a:r>
            <a:r>
              <a:rPr lang="en-US" b="0" i="0" dirty="0">
                <a:effectLst/>
                <a:latin typeface="Times New Roman" panose="02020603050405020304" pitchFamily="18" charset="0"/>
                <a:cs typeface="Times New Roman" panose="02020603050405020304" pitchFamily="18" charset="0"/>
              </a:rPr>
              <a:t> and a throughput of 33 requests per second.</a:t>
            </a:r>
          </a:p>
          <a:p>
            <a:pPr algn="just">
              <a:buNone/>
            </a:pPr>
            <a:r>
              <a:rPr lang="en-US" b="0" i="0" dirty="0">
                <a:effectLst/>
                <a:latin typeface="Times New Roman" panose="02020603050405020304" pitchFamily="18" charset="0"/>
                <a:cs typeface="Times New Roman" panose="02020603050405020304" pitchFamily="18" charset="0"/>
              </a:rPr>
              <a:t>Compared with single-model baselines, the SVM-only system delivered the fastest response at 5 </a:t>
            </a:r>
            <a:r>
              <a:rPr lang="en-US" b="0" i="0" dirty="0" err="1">
                <a:effectLst/>
                <a:latin typeface="Times New Roman" panose="02020603050405020304" pitchFamily="18" charset="0"/>
                <a:cs typeface="Times New Roman" panose="02020603050405020304" pitchFamily="18" charset="0"/>
              </a:rPr>
              <a:t>ms</a:t>
            </a:r>
            <a:r>
              <a:rPr lang="en-US" b="0" i="0" dirty="0">
                <a:effectLst/>
                <a:latin typeface="Times New Roman" panose="02020603050405020304" pitchFamily="18" charset="0"/>
                <a:cs typeface="Times New Roman" panose="02020603050405020304" pitchFamily="18" charset="0"/>
              </a:rPr>
              <a:t> with 200 requests per second but lower accuracy of 87.2%, while the BERT-only system achieved the highest accuracy of 96.1% at the cost of much higher latency of 150 </a:t>
            </a:r>
            <a:r>
              <a:rPr lang="en-US" b="0" i="0" dirty="0" err="1">
                <a:effectLst/>
                <a:latin typeface="Times New Roman" panose="02020603050405020304" pitchFamily="18" charset="0"/>
                <a:cs typeface="Times New Roman" panose="02020603050405020304" pitchFamily="18" charset="0"/>
              </a:rPr>
              <a:t>ms</a:t>
            </a:r>
            <a:r>
              <a:rPr lang="en-US" b="0" i="0" dirty="0">
                <a:effectLst/>
                <a:latin typeface="Times New Roman" panose="02020603050405020304" pitchFamily="18" charset="0"/>
                <a:cs typeface="Times New Roman" panose="02020603050405020304" pitchFamily="18" charset="0"/>
              </a:rPr>
              <a:t> and low throughput of 6.7 requests per second</a:t>
            </a:r>
          </a:p>
        </p:txBody>
      </p:sp>
    </p:spTree>
    <p:extLst>
      <p:ext uri="{BB962C8B-B14F-4D97-AF65-F5344CB8AC3E}">
        <p14:creationId xmlns:p14="http://schemas.microsoft.com/office/powerpoint/2010/main" val="1288631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E7F0F-5B1F-7085-D8F6-9DF08278FF21}"/>
              </a:ext>
            </a:extLst>
          </p:cNvPr>
          <p:cNvSpPr>
            <a:spLocks noGrp="1"/>
          </p:cNvSpPr>
          <p:nvPr>
            <p:ph type="ctrTitle"/>
          </p:nvPr>
        </p:nvSpPr>
        <p:spPr>
          <a:xfrm>
            <a:off x="539552" y="332656"/>
            <a:ext cx="7772400" cy="1080120"/>
          </a:xfrm>
        </p:spPr>
        <p:txBody>
          <a:bodyPr>
            <a:normAutofit/>
          </a:bodyPr>
          <a:lstStyle/>
          <a:p>
            <a:pPr algn="l"/>
            <a:r>
              <a:rPr lang="en-IN" sz="2900" u="sng" dirty="0">
                <a:latin typeface="Times New Roman" panose="02020603050405020304" pitchFamily="18" charset="0"/>
                <a:cs typeface="Times New Roman" panose="02020603050405020304" pitchFamily="18" charset="0"/>
              </a:rPr>
              <a:t>conclusion</a:t>
            </a:r>
            <a:endParaRPr lang="en-IN" sz="2900" b="1" u="sng"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458D88A-A22B-A633-A438-B18A3C7CC30F}"/>
              </a:ext>
            </a:extLst>
          </p:cNvPr>
          <p:cNvSpPr>
            <a:spLocks noGrp="1"/>
          </p:cNvSpPr>
          <p:nvPr>
            <p:ph type="subTitle" idx="1"/>
          </p:nvPr>
        </p:nvSpPr>
        <p:spPr>
          <a:xfrm>
            <a:off x="611560" y="1196752"/>
            <a:ext cx="7920880" cy="3456384"/>
          </a:xfrm>
        </p:spPr>
        <p:txBody>
          <a:bodyPr>
            <a:normAutofit fontScale="25000" lnSpcReduction="20000"/>
          </a:bodyPr>
          <a:lstStyle/>
          <a:p>
            <a:pPr marL="457200" indent="-457200" algn="just">
              <a:lnSpc>
                <a:spcPct val="170000"/>
              </a:lnSpc>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Proposed a </a:t>
            </a:r>
            <a:r>
              <a:rPr lang="en-US" sz="7200" b="1" dirty="0">
                <a:solidFill>
                  <a:schemeClr val="tx1"/>
                </a:solidFill>
                <a:latin typeface="Times New Roman" panose="02020603050405020304" pitchFamily="18" charset="0"/>
                <a:cs typeface="Times New Roman" panose="02020603050405020304" pitchFamily="18" charset="0"/>
              </a:rPr>
              <a:t>confidence-aware two-tier hate speech detection system</a:t>
            </a:r>
            <a:r>
              <a:rPr lang="en-US" sz="7200" dirty="0">
                <a:solidFill>
                  <a:schemeClr val="tx1"/>
                </a:solidFill>
                <a:latin typeface="Times New Roman" panose="02020603050405020304" pitchFamily="18" charset="0"/>
                <a:cs typeface="Times New Roman" panose="02020603050405020304" pitchFamily="18" charset="0"/>
              </a:rPr>
              <a:t> that combines an SVM classifier with a BERT model to balance high accuracy and low inference latency for real-time moderation.</a:t>
            </a:r>
          </a:p>
          <a:p>
            <a:pPr marL="457200" indent="-457200" algn="just">
              <a:lnSpc>
                <a:spcPct val="170000"/>
              </a:lnSpc>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Used a confidence-based routing strategy in which clear inputs are handled by the lightweight SVM, while uncertain inputs are forwarded to BERT for deeper contextual analysis.</a:t>
            </a:r>
          </a:p>
          <a:p>
            <a:pPr marL="457200" indent="-457200" algn="just">
              <a:lnSpc>
                <a:spcPct val="170000"/>
              </a:lnSpc>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Achieved performance close to a BERT-only system while significantly reducing latency and improving throughput, making the framework suitable for large-scale real-time deployment.</a:t>
            </a:r>
          </a:p>
          <a:p>
            <a:pPr marL="457200" indent="-457200" algn="just">
              <a:lnSpc>
                <a:spcPct val="170000"/>
              </a:lnSpc>
              <a:buFont typeface="Arial" panose="020B0604020202020204" pitchFamily="34" charset="0"/>
              <a:buChar char="•"/>
            </a:pPr>
            <a:r>
              <a:rPr lang="en-US" sz="7200" dirty="0">
                <a:solidFill>
                  <a:schemeClr val="tx1"/>
                </a:solidFill>
                <a:latin typeface="Times New Roman" panose="02020603050405020304" pitchFamily="18" charset="0"/>
                <a:cs typeface="Times New Roman" panose="02020603050405020304" pitchFamily="18" charset="0"/>
              </a:rPr>
              <a:t>Showed that most inputs can be classified reliably by the fast first tier, while selective escalation improves detection of ambiguous and minority-class hate speech, providing a practical and scalable production-ready solution.</a:t>
            </a:r>
          </a:p>
          <a:p>
            <a:br>
              <a:rPr lang="en-US" dirty="0"/>
            </a:br>
            <a:endParaRPr lang="en-IN" dirty="0"/>
          </a:p>
        </p:txBody>
      </p:sp>
    </p:spTree>
    <p:extLst>
      <p:ext uri="{BB962C8B-B14F-4D97-AF65-F5344CB8AC3E}">
        <p14:creationId xmlns:p14="http://schemas.microsoft.com/office/powerpoint/2010/main" val="1939437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67360" y="2852420"/>
          <a:ext cx="8229600" cy="1068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TotalTime>
  <Words>1075</Words>
  <Application>Microsoft Office PowerPoint</Application>
  <PresentationFormat>On-screen Show (4:3)</PresentationFormat>
  <Paragraphs>78</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Office Theme</vt:lpstr>
      <vt:lpstr>Cyberbullying Detection Across Social Media Platforms: A Two-Tier Hate Speech Detection System Using SVM and BERT with Confidence-Based Routing </vt:lpstr>
      <vt:lpstr>CONTENTS</vt:lpstr>
      <vt:lpstr>Abstract</vt:lpstr>
      <vt:lpstr>Introduction</vt:lpstr>
      <vt:lpstr>Objectives</vt:lpstr>
      <vt:lpstr>Existing System</vt:lpstr>
      <vt:lpstr>Proposed System</vt:lpstr>
      <vt:lpstr>System Requirements</vt:lpstr>
      <vt:lpstr>Design and Methodology Diagrams</vt:lpstr>
      <vt:lpstr>PowerPoint Presentation</vt:lpstr>
      <vt:lpstr>PowerPoint Presentation</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and ML</dc:title>
  <dc:creator>Srikanth Ramagani</dc:creator>
  <cp:lastModifiedBy>Teja Nadella</cp:lastModifiedBy>
  <cp:revision>122</cp:revision>
  <dcterms:created xsi:type="dcterms:W3CDTF">2023-01-24T15:52:00Z</dcterms:created>
  <dcterms:modified xsi:type="dcterms:W3CDTF">2026-04-21T04:15:47Z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6F00AAA973CA4ED38FA977F77A0438B9_13</vt:lpwstr>
  </property>
  <property fmtid="{D5CDD505-2E9C-101B-9397-08002B2CF9AE}" pid="3" name="KSOProductBuildVer">
    <vt:lpwstr>1033-12.2.0.22549</vt:lpwstr>
  </property>
</Properties>
</file>